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2192000" cy="6858000" type="custom"/>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 we're group 16 and this is our mid-quarter status update on MemeBro, our AI-assisted meme generator. In the next four minutes we'll cover what we've built, how our team actually works, what we got wrong along the way, and what's coming next.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MemeBro is a web app where you pick a meme template, describe the vibe you want, and our AI suggests a caption. You can save what you make in a personal gallery. It's mobile first, no install, runs entirely in the browser today. Our target user is anyone who wants to make a quick joke without learning a design tool.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We're at the walking skeleton stage. All four of our lanes have work in flight, with five active pull requests in review right now: the template gallery component, the conjure page UI, the home page layout, the ImgFlip API integration, and the CI/CD pipeline. We've also published three architecture decision records covering our stack, hosting, and backend strategy. Deployment itself is the first thing we land in sprint 3, on Cloudflare Pages.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CI/CD pipeline is built and in final review this week. Once merged, every push and every pull request runs lint, unit tests, and end-to-end tests. Nothing merges to main without all gates green, and main is already protected so the only path in is a reviewed pull request. We pivoted our hosting target from GitHub Pages to Cloudflare Pages this sprint because Pages Functions gives us a clean path to the AI proxy backend without changing how we deploy.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Process is what makes a ten person team actually ship. We're organized as a project lead plus four lanes of two for the build sprints: frontend, backend, testing and docs, and design. Standups happen at least three times a week and every one of them is logged in our repo. We meet with our TA every week with formal action items captured each session. All architectural decisions get written up as ADRs instead of being talked through in Slack. We also wrote an AGENTS.md file that defines our coding norms so humans and AI agents writing code stay consistent across the codebase. Our issue tracker is the source of truth and Slack is just where we coordinate.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team hits real friction, and ours has been around making hard decisions cleanly. The backend stack was a non-trivial choice between static-only, serverless functions, and a full backend, so instead of picking one prematurely we wrote a structured deferral ADR with a clear re-decision date. As our AI integration came into focus, we realized our original hosting target wasn't the right fit and pivoted to Cloudflare Pages, with the rationale captured in an ADR. Our testing infrastructure work was larger than a single issue, so we split it into lint, unit, and end-to-end sub-items that can ship in parallel. With multiple contributors using AI assistants on the same repo, we wrote AGENTS.md as a shared contract to keep style and conventions coherent. And we set a 24 hour review SLA with lane-specific Slack channels so pull requests don't sit in queue.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 has been a real force multiplier. We use it for scaffolding, drafting ADRs, transcribing meeting notes, and keeping our documentation in shape. The cons are real though. Agents will invent abstractions if you let them, output needs human review before merge, and it's very easy to over-document. We mitigate by treating AGENTS.md as a contract that bounds what AI does, by enforcing JSDoc through lint, and by requiring the human author to own and review every PR.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Sprint 3 starts Sunday. Day one we land the Cloudflare Pages deploy so we have a live URL. From there we stand up the AI proxy on Pages Functions, wire the full end-to-end meme flow, and bring test coverage up across the components we've already shipped. Sprint 4 is polish, an accessibility pass, and final presentation prep. By the close of sprint 3 we'll have a working end-to-end demo, and we'll bring a full product walkthrough to the final presentation. Thanks for watching.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6EFDE"/>
        </a:solidFill>
        <a:effectLst/>
      </p:bgPr>
    </p:bg>
    <p:spTree>
      <p:nvGrpSpPr>
        <p:cNvPr id="1" name=""/>
        <p:cNvGrpSpPr/>
        <p:nvPr/>
      </p:nvGrpSpPr>
      <p:grpSpPr/>
      <p:sp>
        <p:nvSpPr>
          <p:cNvPr id="2" name="TextBox 1"/>
          <p:cNvSpPr txBox="1"/>
          <p:nvPr/>
        </p:nvSpPr>
        <p:spPr>
          <a:xfrm>
            <a:off x="0" y="2194560"/>
            <a:ext cx="12191695" cy="1828800"/>
          </a:xfrm>
          <a:prstGeom prst="rect">
            <a:avLst/>
          </a:prstGeom>
          <a:noFill/>
        </p:spPr>
        <p:txBody>
          <a:bodyPr wrap="square" lIns="0" rIns="0" tIns="0" bIns="0" anchor="ctr">
            <a:spAutoFit/>
          </a:bodyPr>
          <a:lstStyle/>
          <a:p>
            <a:pPr algn="ctr">
              <a:lnSpc>
                <a:spcPct val="120000"/>
              </a:lnSpc>
            </a:pPr>
            <a:r>
              <a:rPr sz="11000" b="0" i="1">
                <a:solidFill>
                  <a:srgbClr val="1F1408"/>
                </a:solidFill>
                <a:latin typeface="Instrument Serif"/>
              </a:rPr>
              <a:t>MemeBro</a:t>
            </a:r>
          </a:p>
        </p:txBody>
      </p:sp>
      <p:sp>
        <p:nvSpPr>
          <p:cNvPr id="3" name="Rectangle 2"/>
          <p:cNvSpPr/>
          <p:nvPr/>
        </p:nvSpPr>
        <p:spPr>
          <a:xfrm>
            <a:off x="4952847" y="4069080"/>
            <a:ext cx="2286000" cy="73152"/>
          </a:xfrm>
          <a:prstGeom prst="rect">
            <a:avLst/>
          </a:prstGeom>
          <a:solidFill>
            <a:srgbClr val="E369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0" y="4434840"/>
            <a:ext cx="12191695" cy="457200"/>
          </a:xfrm>
          <a:prstGeom prst="rect">
            <a:avLst/>
          </a:prstGeom>
          <a:noFill/>
        </p:spPr>
        <p:txBody>
          <a:bodyPr wrap="square" lIns="0" rIns="0" tIns="0" bIns="0" anchor="t">
            <a:spAutoFit/>
          </a:bodyPr>
          <a:lstStyle/>
          <a:p>
            <a:pPr algn="ctr">
              <a:lnSpc>
                <a:spcPct val="120000"/>
              </a:lnSpc>
            </a:pPr>
            <a:r>
              <a:rPr sz="2200" b="0" i="0">
                <a:solidFill>
                  <a:srgbClr val="4A3A26"/>
                </a:solidFill>
                <a:latin typeface="Geist"/>
              </a:rPr>
              <a:t>Sprint Status Video 1</a:t>
            </a:r>
          </a:p>
        </p:txBody>
      </p:sp>
      <p:sp>
        <p:nvSpPr>
          <p:cNvPr id="5" name="TextBox 4"/>
          <p:cNvSpPr txBox="1"/>
          <p:nvPr/>
        </p:nvSpPr>
        <p:spPr>
          <a:xfrm>
            <a:off x="0" y="4892040"/>
            <a:ext cx="12191695" cy="365760"/>
          </a:xfrm>
          <a:prstGeom prst="rect">
            <a:avLst/>
          </a:prstGeom>
          <a:noFill/>
        </p:spPr>
        <p:txBody>
          <a:bodyPr wrap="square" lIns="0" rIns="0" tIns="0" bIns="0" anchor="t">
            <a:spAutoFit/>
          </a:bodyPr>
          <a:lstStyle/>
          <a:p>
            <a:pPr algn="ctr">
              <a:lnSpc>
                <a:spcPct val="120000"/>
              </a:lnSpc>
            </a:pPr>
            <a:r>
              <a:rPr sz="1300" b="0" i="0">
                <a:solidFill>
                  <a:srgbClr val="8A7958"/>
                </a:solidFill>
                <a:latin typeface="Geist"/>
              </a:rPr>
              <a:t>CSE 110   ·   Spring 2026   ·   Group 16</a:t>
            </a:r>
          </a:p>
        </p:txBody>
      </p:sp>
      <p:sp>
        <p:nvSpPr>
          <p:cNvPr id="6" name="TextBox 5"/>
          <p:cNvSpPr txBox="1"/>
          <p:nvPr/>
        </p:nvSpPr>
        <p:spPr>
          <a:xfrm>
            <a:off x="0" y="5257800"/>
            <a:ext cx="12191695" cy="365760"/>
          </a:xfrm>
          <a:prstGeom prst="rect">
            <a:avLst/>
          </a:prstGeom>
          <a:noFill/>
        </p:spPr>
        <p:txBody>
          <a:bodyPr wrap="square" lIns="0" rIns="0" tIns="0" bIns="0" anchor="t">
            <a:spAutoFit/>
          </a:bodyPr>
          <a:lstStyle/>
          <a:p>
            <a:pPr algn="ctr">
              <a:lnSpc>
                <a:spcPct val="120000"/>
              </a:lnSpc>
            </a:pPr>
            <a:r>
              <a:rPr sz="1100" b="0" i="0">
                <a:solidFill>
                  <a:srgbClr val="8A7958"/>
                </a:solidFill>
                <a:latin typeface="Geist"/>
              </a:rPr>
              <a:t>2026-05-20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6EFDE"/>
        </a:solidFill>
        <a:effectLst/>
      </p:bgPr>
    </p:bg>
    <p:spTree>
      <p:nvGrpSpPr>
        <p:cNvPr id="1" name=""/>
        <p:cNvGrpSpPr/>
        <p:nvPr/>
      </p:nvGrpSpPr>
      <p:grpSpPr/>
      <p:sp>
        <p:nvSpPr>
          <p:cNvPr id="2" name="TextBox 1"/>
          <p:cNvSpPr txBox="1"/>
          <p:nvPr/>
        </p:nvSpPr>
        <p:spPr>
          <a:xfrm>
            <a:off x="640080" y="411480"/>
            <a:ext cx="10972800" cy="822960"/>
          </a:xfrm>
          <a:prstGeom prst="rect">
            <a:avLst/>
          </a:prstGeom>
          <a:noFill/>
        </p:spPr>
        <p:txBody>
          <a:bodyPr wrap="square" lIns="0" rIns="0" tIns="0" bIns="0" anchor="t">
            <a:spAutoFit/>
          </a:bodyPr>
          <a:lstStyle/>
          <a:p>
            <a:pPr algn="l">
              <a:lnSpc>
                <a:spcPct val="120000"/>
              </a:lnSpc>
            </a:pPr>
            <a:r>
              <a:rPr sz="3400" b="0" i="1">
                <a:solidFill>
                  <a:srgbClr val="1F1408"/>
                </a:solidFill>
                <a:latin typeface="Instrument Serif"/>
              </a:rPr>
              <a:t>What we're building</a:t>
            </a:r>
          </a:p>
        </p:txBody>
      </p:sp>
      <p:sp>
        <p:nvSpPr>
          <p:cNvPr id="3" name="Rectangle 2"/>
          <p:cNvSpPr/>
          <p:nvPr/>
        </p:nvSpPr>
        <p:spPr>
          <a:xfrm>
            <a:off x="640080" y="1170432"/>
            <a:ext cx="548640" cy="54864"/>
          </a:xfrm>
          <a:prstGeom prst="rect">
            <a:avLst/>
          </a:prstGeom>
          <a:solidFill>
            <a:srgbClr val="E369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920240"/>
            <a:ext cx="5486400" cy="4114800"/>
          </a:xfrm>
          <a:prstGeom prst="rect">
            <a:avLst/>
          </a:prstGeom>
          <a:noFill/>
        </p:spPr>
        <p:txBody>
          <a:bodyPr wrap="square" lIns="0" rIns="0" tIns="0" bIns="0">
            <a:spAutoFit/>
          </a:bodyPr>
          <a:lstStyle/>
          <a:p>
            <a:pPr>
              <a:lnSpc>
                <a:spcPct val="150000"/>
              </a:lnSpc>
              <a:spcAft>
                <a:spcPts val="1400"/>
              </a:spcAft>
            </a:pPr>
            <a:r>
              <a:rPr sz="1500">
                <a:solidFill>
                  <a:srgbClr val="E3691A"/>
                </a:solidFill>
                <a:latin typeface="Geist"/>
              </a:rPr>
              <a:t>●  </a:t>
            </a:r>
            <a:r>
              <a:rPr sz="1800">
                <a:solidFill>
                  <a:srgbClr val="1F1408"/>
                </a:solidFill>
                <a:latin typeface="Geist"/>
              </a:rPr>
              <a:t>Pick a meme template</a:t>
            </a:r>
          </a:p>
          <a:p>
            <a:pPr>
              <a:lnSpc>
                <a:spcPct val="150000"/>
              </a:lnSpc>
              <a:spcAft>
                <a:spcPts val="1400"/>
              </a:spcAft>
            </a:pPr>
            <a:r>
              <a:rPr sz="1500">
                <a:solidFill>
                  <a:srgbClr val="E3691A"/>
                </a:solidFill>
                <a:latin typeface="Geist"/>
              </a:rPr>
              <a:t>●  </a:t>
            </a:r>
            <a:r>
              <a:rPr sz="1800">
                <a:solidFill>
                  <a:srgbClr val="1F1408"/>
                </a:solidFill>
                <a:latin typeface="Geist"/>
              </a:rPr>
              <a:t>Type a vibe, AI suggests a caption</a:t>
            </a:r>
          </a:p>
          <a:p>
            <a:pPr>
              <a:lnSpc>
                <a:spcPct val="150000"/>
              </a:lnSpc>
              <a:spcAft>
                <a:spcPts val="1400"/>
              </a:spcAft>
            </a:pPr>
            <a:r>
              <a:rPr sz="1500">
                <a:solidFill>
                  <a:srgbClr val="E3691A"/>
                </a:solidFill>
                <a:latin typeface="Geist"/>
              </a:rPr>
              <a:t>●  </a:t>
            </a:r>
            <a:r>
              <a:rPr sz="1800">
                <a:solidFill>
                  <a:srgbClr val="1F1408"/>
                </a:solidFill>
                <a:latin typeface="Geist"/>
              </a:rPr>
              <a:t>Save it to your personal gallery</a:t>
            </a:r>
          </a:p>
          <a:p>
            <a:pPr>
              <a:lnSpc>
                <a:spcPct val="150000"/>
              </a:lnSpc>
              <a:spcAft>
                <a:spcPts val="1400"/>
              </a:spcAft>
            </a:pPr>
            <a:r>
              <a:rPr sz="1500">
                <a:solidFill>
                  <a:srgbClr val="E3691A"/>
                </a:solidFill>
                <a:latin typeface="Geist"/>
              </a:rPr>
              <a:t>●  </a:t>
            </a:r>
            <a:r>
              <a:rPr sz="1800">
                <a:solidFill>
                  <a:srgbClr val="1F1408"/>
                </a:solidFill>
                <a:latin typeface="Geist"/>
              </a:rPr>
              <a:t>Mobile first, runs entirely in the browser</a:t>
            </a:r>
          </a:p>
        </p:txBody>
      </p:sp>
      <p:sp>
        <p:nvSpPr>
          <p:cNvPr id="5" name="Rounded Rectangle 4"/>
          <p:cNvSpPr/>
          <p:nvPr/>
        </p:nvSpPr>
        <p:spPr>
          <a:xfrm>
            <a:off x="6949440" y="1554480"/>
            <a:ext cx="4206240" cy="4572000"/>
          </a:xfrm>
          <a:prstGeom prst="roundRect">
            <a:avLst>
              <a:gd name="adj" fmla="val 6000"/>
            </a:avLst>
          </a:prstGeom>
          <a:solidFill>
            <a:srgbClr val="FCF8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1-mobile.png"/>
          <p:cNvPicPr>
            <a:picLocks noChangeAspect="1"/>
          </p:cNvPicPr>
          <p:nvPr/>
        </p:nvPicPr>
        <p:blipFill>
          <a:blip r:embed="rId2"/>
          <a:stretch>
            <a:fillRect/>
          </a:stretch>
        </p:blipFill>
        <p:spPr>
          <a:xfrm>
            <a:off x="7114032" y="1719072"/>
            <a:ext cx="3877056" cy="3922776"/>
          </a:xfrm>
          <a:prstGeom prst="rect">
            <a:avLst/>
          </a:prstGeom>
        </p:spPr>
      </p:pic>
      <p:sp>
        <p:nvSpPr>
          <p:cNvPr id="7" name="TextBox 6"/>
          <p:cNvSpPr txBox="1"/>
          <p:nvPr/>
        </p:nvSpPr>
        <p:spPr>
          <a:xfrm>
            <a:off x="6949440" y="5806440"/>
            <a:ext cx="4206240" cy="274320"/>
          </a:xfrm>
          <a:prstGeom prst="rect">
            <a:avLst/>
          </a:prstGeom>
          <a:noFill/>
        </p:spPr>
        <p:txBody>
          <a:bodyPr wrap="square" lIns="0" rIns="0" tIns="0" bIns="0" anchor="t">
            <a:spAutoFit/>
          </a:bodyPr>
          <a:lstStyle/>
          <a:p>
            <a:pPr algn="ctr">
              <a:lnSpc>
                <a:spcPct val="120000"/>
              </a:lnSpc>
            </a:pPr>
            <a:r>
              <a:rPr sz="1000" b="0" i="0">
                <a:solidFill>
                  <a:srgbClr val="8A7958"/>
                </a:solidFill>
                <a:latin typeface="Geist"/>
              </a:rPr>
              <a:t>Library Home, mobile</a:t>
            </a:r>
          </a:p>
        </p:txBody>
      </p:sp>
      <p:sp>
        <p:nvSpPr>
          <p:cNvPr id="8" name="TextBox 7"/>
          <p:cNvSpPr txBox="1"/>
          <p:nvPr/>
        </p:nvSpPr>
        <p:spPr>
          <a:xfrm>
            <a:off x="640080" y="6446520"/>
            <a:ext cx="9144000" cy="320040"/>
          </a:xfrm>
          <a:prstGeom prst="rect">
            <a:avLst/>
          </a:prstGeom>
          <a:noFill/>
        </p:spPr>
        <p:txBody>
          <a:bodyPr wrap="square" lIns="0" rIns="0" tIns="0" bIns="0" anchor="t">
            <a:spAutoFit/>
          </a:bodyPr>
          <a:lstStyle/>
          <a:p>
            <a:pPr algn="l">
              <a:lnSpc>
                <a:spcPct val="120000"/>
              </a:lnSpc>
            </a:pPr>
            <a:r>
              <a:rPr sz="900" b="0" i="0">
                <a:solidFill>
                  <a:srgbClr val="8A7958"/>
                </a:solidFill>
                <a:latin typeface="Geist"/>
              </a:rPr>
              <a:t>MemeBro   ·   CSE 110 Group 16   ·   Sprint Status Video 1</a:t>
            </a:r>
          </a:p>
        </p:txBody>
      </p:sp>
      <p:sp>
        <p:nvSpPr>
          <p:cNvPr id="9" name="TextBox 8"/>
          <p:cNvSpPr txBox="1"/>
          <p:nvPr/>
        </p:nvSpPr>
        <p:spPr>
          <a:xfrm>
            <a:off x="10515600" y="6446520"/>
            <a:ext cx="1097280" cy="320040"/>
          </a:xfrm>
          <a:prstGeom prst="rect">
            <a:avLst/>
          </a:prstGeom>
          <a:noFill/>
        </p:spPr>
        <p:txBody>
          <a:bodyPr wrap="square" lIns="0" rIns="0" tIns="0" bIns="0" anchor="t">
            <a:spAutoFit/>
          </a:bodyPr>
          <a:lstStyle/>
          <a:p>
            <a:pPr algn="r">
              <a:lnSpc>
                <a:spcPct val="120000"/>
              </a:lnSpc>
            </a:pPr>
            <a:r>
              <a:rPr sz="900" b="0" i="0">
                <a:solidFill>
                  <a:srgbClr val="8A7958"/>
                </a:solidFill>
                <a:latin typeface="Geist"/>
              </a:rPr>
              <a:t>2  /  8</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6EFDE"/>
        </a:solidFill>
        <a:effectLst/>
      </p:bgPr>
    </p:bg>
    <p:spTree>
      <p:nvGrpSpPr>
        <p:cNvPr id="1" name=""/>
        <p:cNvGrpSpPr/>
        <p:nvPr/>
      </p:nvGrpSpPr>
      <p:grpSpPr/>
      <p:sp>
        <p:nvSpPr>
          <p:cNvPr id="2" name="TextBox 1"/>
          <p:cNvSpPr txBox="1"/>
          <p:nvPr/>
        </p:nvSpPr>
        <p:spPr>
          <a:xfrm>
            <a:off x="640080" y="411480"/>
            <a:ext cx="10972800" cy="822960"/>
          </a:xfrm>
          <a:prstGeom prst="rect">
            <a:avLst/>
          </a:prstGeom>
          <a:noFill/>
        </p:spPr>
        <p:txBody>
          <a:bodyPr wrap="square" lIns="0" rIns="0" tIns="0" bIns="0" anchor="t">
            <a:spAutoFit/>
          </a:bodyPr>
          <a:lstStyle/>
          <a:p>
            <a:pPr algn="l">
              <a:lnSpc>
                <a:spcPct val="120000"/>
              </a:lnSpc>
            </a:pPr>
            <a:r>
              <a:rPr sz="3400" b="0" i="1">
                <a:solidFill>
                  <a:srgbClr val="1F1408"/>
                </a:solidFill>
                <a:latin typeface="Instrument Serif"/>
              </a:rPr>
              <a:t>Where we are</a:t>
            </a:r>
          </a:p>
        </p:txBody>
      </p:sp>
      <p:sp>
        <p:nvSpPr>
          <p:cNvPr id="3" name="Rectangle 2"/>
          <p:cNvSpPr/>
          <p:nvPr/>
        </p:nvSpPr>
        <p:spPr>
          <a:xfrm>
            <a:off x="640080" y="1170432"/>
            <a:ext cx="548640" cy="54864"/>
          </a:xfrm>
          <a:prstGeom prst="rect">
            <a:avLst/>
          </a:prstGeom>
          <a:solidFill>
            <a:srgbClr val="E369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920240"/>
            <a:ext cx="6858000" cy="4114800"/>
          </a:xfrm>
          <a:prstGeom prst="rect">
            <a:avLst/>
          </a:prstGeom>
          <a:noFill/>
        </p:spPr>
        <p:txBody>
          <a:bodyPr wrap="square" lIns="0" rIns="0" tIns="0" bIns="0">
            <a:spAutoFit/>
          </a:bodyPr>
          <a:lstStyle/>
          <a:p>
            <a:pPr>
              <a:lnSpc>
                <a:spcPct val="150000"/>
              </a:lnSpc>
              <a:spcAft>
                <a:spcPts val="1000"/>
              </a:spcAft>
            </a:pPr>
            <a:r>
              <a:rPr sz="1300">
                <a:solidFill>
                  <a:srgbClr val="E3691A"/>
                </a:solidFill>
                <a:latin typeface="Geist"/>
              </a:rPr>
              <a:t>●  </a:t>
            </a:r>
            <a:r>
              <a:rPr sz="1600">
                <a:solidFill>
                  <a:srgbClr val="1F1408"/>
                </a:solidFill>
                <a:latin typeface="Geist"/>
              </a:rPr>
              <a:t>5 active PRs across all 4 lanes, all in review</a:t>
            </a:r>
          </a:p>
          <a:p>
            <a:pPr>
              <a:lnSpc>
                <a:spcPct val="150000"/>
              </a:lnSpc>
              <a:spcAft>
                <a:spcPts val="1000"/>
              </a:spcAft>
            </a:pPr>
            <a:r>
              <a:rPr sz="1300">
                <a:solidFill>
                  <a:srgbClr val="E3691A"/>
                </a:solidFill>
                <a:latin typeface="Geist"/>
              </a:rPr>
              <a:t>●  </a:t>
            </a:r>
            <a:r>
              <a:rPr sz="1600">
                <a:solidFill>
                  <a:srgbClr val="1F1408"/>
                </a:solidFill>
                <a:latin typeface="Geist"/>
              </a:rPr>
              <a:t>Gallery, conjure UI, home page, ImgFlip fetch in flight</a:t>
            </a:r>
          </a:p>
          <a:p>
            <a:pPr>
              <a:lnSpc>
                <a:spcPct val="150000"/>
              </a:lnSpc>
              <a:spcAft>
                <a:spcPts val="1000"/>
              </a:spcAft>
            </a:pPr>
            <a:r>
              <a:rPr sz="1300">
                <a:solidFill>
                  <a:srgbClr val="E3691A"/>
                </a:solidFill>
                <a:latin typeface="Geist"/>
              </a:rPr>
              <a:t>●  </a:t>
            </a:r>
            <a:r>
              <a:rPr sz="1600">
                <a:solidFill>
                  <a:srgbClr val="1F1408"/>
                </a:solidFill>
                <a:latin typeface="Geist"/>
              </a:rPr>
              <a:t>Design system tokens and AGENTS.md already merged</a:t>
            </a:r>
          </a:p>
          <a:p>
            <a:pPr>
              <a:lnSpc>
                <a:spcPct val="150000"/>
              </a:lnSpc>
              <a:spcAft>
                <a:spcPts val="1000"/>
              </a:spcAft>
            </a:pPr>
            <a:r>
              <a:rPr sz="1300">
                <a:solidFill>
                  <a:srgbClr val="E3691A"/>
                </a:solidFill>
                <a:latin typeface="Geist"/>
              </a:rPr>
              <a:t>●  </a:t>
            </a:r>
            <a:r>
              <a:rPr sz="1600">
                <a:solidFill>
                  <a:srgbClr val="1F1408"/>
                </a:solidFill>
                <a:latin typeface="Geist"/>
              </a:rPr>
              <a:t>3 ADRs published: stack, hosting, backend strategy</a:t>
            </a:r>
          </a:p>
          <a:p>
            <a:pPr>
              <a:lnSpc>
                <a:spcPct val="150000"/>
              </a:lnSpc>
              <a:spcAft>
                <a:spcPts val="1000"/>
              </a:spcAft>
            </a:pPr>
            <a:r>
              <a:rPr sz="1300">
                <a:solidFill>
                  <a:srgbClr val="E3691A"/>
                </a:solidFill>
                <a:latin typeface="Geist"/>
              </a:rPr>
              <a:t>●  </a:t>
            </a:r>
            <a:r>
              <a:rPr sz="1600">
                <a:solidFill>
                  <a:srgbClr val="1F1408"/>
                </a:solidFill>
                <a:latin typeface="Geist"/>
              </a:rPr>
              <a:t>Deployment is sprint 3 day 1 (Cloudflare Pages setup in flight)</a:t>
            </a:r>
          </a:p>
        </p:txBody>
      </p:sp>
      <p:sp>
        <p:nvSpPr>
          <p:cNvPr id="5" name="Rounded Rectangle 4"/>
          <p:cNvSpPr/>
          <p:nvPr/>
        </p:nvSpPr>
        <p:spPr>
          <a:xfrm>
            <a:off x="7726679" y="2103120"/>
            <a:ext cx="1234440" cy="2468880"/>
          </a:xfrm>
          <a:prstGeom prst="roundRect">
            <a:avLst>
              <a:gd name="adj" fmla="val 6000"/>
            </a:avLst>
          </a:prstGeom>
          <a:solidFill>
            <a:srgbClr val="FCF8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1-mobile.png"/>
          <p:cNvPicPr>
            <a:picLocks noChangeAspect="1"/>
          </p:cNvPicPr>
          <p:nvPr/>
        </p:nvPicPr>
        <p:blipFill>
          <a:blip r:embed="rId2"/>
          <a:stretch>
            <a:fillRect/>
          </a:stretch>
        </p:blipFill>
        <p:spPr>
          <a:xfrm>
            <a:off x="7836407" y="2212848"/>
            <a:ext cx="1014984" cy="1929384"/>
          </a:xfrm>
          <a:prstGeom prst="rect">
            <a:avLst/>
          </a:prstGeom>
        </p:spPr>
      </p:pic>
      <p:sp>
        <p:nvSpPr>
          <p:cNvPr id="7" name="TextBox 6"/>
          <p:cNvSpPr txBox="1"/>
          <p:nvPr/>
        </p:nvSpPr>
        <p:spPr>
          <a:xfrm>
            <a:off x="7726679" y="4251960"/>
            <a:ext cx="1234440" cy="274320"/>
          </a:xfrm>
          <a:prstGeom prst="rect">
            <a:avLst/>
          </a:prstGeom>
          <a:noFill/>
        </p:spPr>
        <p:txBody>
          <a:bodyPr wrap="square" lIns="0" rIns="0" tIns="0" bIns="0" anchor="t">
            <a:spAutoFit/>
          </a:bodyPr>
          <a:lstStyle/>
          <a:p>
            <a:pPr algn="ctr">
              <a:lnSpc>
                <a:spcPct val="120000"/>
              </a:lnSpc>
            </a:pPr>
            <a:r>
              <a:rPr sz="1000" b="0" i="0">
                <a:solidFill>
                  <a:srgbClr val="8A7958"/>
                </a:solidFill>
                <a:latin typeface="Geist"/>
              </a:rPr>
              <a:t>Library</a:t>
            </a:r>
          </a:p>
        </p:txBody>
      </p:sp>
      <p:sp>
        <p:nvSpPr>
          <p:cNvPr id="8" name="Rounded Rectangle 7"/>
          <p:cNvSpPr/>
          <p:nvPr/>
        </p:nvSpPr>
        <p:spPr>
          <a:xfrm>
            <a:off x="9125711" y="2103120"/>
            <a:ext cx="1234440" cy="2468880"/>
          </a:xfrm>
          <a:prstGeom prst="roundRect">
            <a:avLst>
              <a:gd name="adj" fmla="val 6000"/>
            </a:avLst>
          </a:prstGeom>
          <a:solidFill>
            <a:srgbClr val="FCF8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1-mobile.png"/>
          <p:cNvPicPr>
            <a:picLocks noChangeAspect="1"/>
          </p:cNvPicPr>
          <p:nvPr/>
        </p:nvPicPr>
        <p:blipFill>
          <a:blip r:embed="rId3"/>
          <a:stretch>
            <a:fillRect/>
          </a:stretch>
        </p:blipFill>
        <p:spPr>
          <a:xfrm>
            <a:off x="9235439" y="2212848"/>
            <a:ext cx="1014984" cy="1929384"/>
          </a:xfrm>
          <a:prstGeom prst="rect">
            <a:avLst/>
          </a:prstGeom>
        </p:spPr>
      </p:pic>
      <p:sp>
        <p:nvSpPr>
          <p:cNvPr id="10" name="TextBox 9"/>
          <p:cNvSpPr txBox="1"/>
          <p:nvPr/>
        </p:nvSpPr>
        <p:spPr>
          <a:xfrm>
            <a:off x="9125711" y="4251960"/>
            <a:ext cx="1234440" cy="274320"/>
          </a:xfrm>
          <a:prstGeom prst="rect">
            <a:avLst/>
          </a:prstGeom>
          <a:noFill/>
        </p:spPr>
        <p:txBody>
          <a:bodyPr wrap="square" lIns="0" rIns="0" tIns="0" bIns="0" anchor="t">
            <a:spAutoFit/>
          </a:bodyPr>
          <a:lstStyle/>
          <a:p>
            <a:pPr algn="ctr">
              <a:lnSpc>
                <a:spcPct val="120000"/>
              </a:lnSpc>
            </a:pPr>
            <a:r>
              <a:rPr sz="1000" b="0" i="0">
                <a:solidFill>
                  <a:srgbClr val="8A7958"/>
                </a:solidFill>
                <a:latin typeface="Geist"/>
              </a:rPr>
              <a:t>Conjure</a:t>
            </a:r>
          </a:p>
        </p:txBody>
      </p:sp>
      <p:sp>
        <p:nvSpPr>
          <p:cNvPr id="11" name="Rounded Rectangle 10"/>
          <p:cNvSpPr/>
          <p:nvPr/>
        </p:nvSpPr>
        <p:spPr>
          <a:xfrm>
            <a:off x="10524743" y="2103120"/>
            <a:ext cx="1234440" cy="2468880"/>
          </a:xfrm>
          <a:prstGeom prst="roundRect">
            <a:avLst>
              <a:gd name="adj" fmla="val 6000"/>
            </a:avLst>
          </a:prstGeom>
          <a:solidFill>
            <a:srgbClr val="FCF8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1-mobile.png"/>
          <p:cNvPicPr>
            <a:picLocks noChangeAspect="1"/>
          </p:cNvPicPr>
          <p:nvPr/>
        </p:nvPicPr>
        <p:blipFill>
          <a:blip r:embed="rId4"/>
          <a:stretch>
            <a:fillRect/>
          </a:stretch>
        </p:blipFill>
        <p:spPr>
          <a:xfrm>
            <a:off x="10634471" y="2212848"/>
            <a:ext cx="1014984" cy="1929384"/>
          </a:xfrm>
          <a:prstGeom prst="rect">
            <a:avLst/>
          </a:prstGeom>
        </p:spPr>
      </p:pic>
      <p:sp>
        <p:nvSpPr>
          <p:cNvPr id="13" name="TextBox 12"/>
          <p:cNvSpPr txBox="1"/>
          <p:nvPr/>
        </p:nvSpPr>
        <p:spPr>
          <a:xfrm>
            <a:off x="10524743" y="4251960"/>
            <a:ext cx="1234440" cy="274320"/>
          </a:xfrm>
          <a:prstGeom prst="rect">
            <a:avLst/>
          </a:prstGeom>
          <a:noFill/>
        </p:spPr>
        <p:txBody>
          <a:bodyPr wrap="square" lIns="0" rIns="0" tIns="0" bIns="0" anchor="t">
            <a:spAutoFit/>
          </a:bodyPr>
          <a:lstStyle/>
          <a:p>
            <a:pPr algn="ctr">
              <a:lnSpc>
                <a:spcPct val="120000"/>
              </a:lnSpc>
            </a:pPr>
            <a:r>
              <a:rPr sz="1000" b="0" i="0">
                <a:solidFill>
                  <a:srgbClr val="8A7958"/>
                </a:solidFill>
                <a:latin typeface="Geist"/>
              </a:rPr>
              <a:t>My Memes</a:t>
            </a:r>
          </a:p>
        </p:txBody>
      </p:sp>
      <p:sp>
        <p:nvSpPr>
          <p:cNvPr id="14" name="TextBox 13"/>
          <p:cNvSpPr txBox="1"/>
          <p:nvPr/>
        </p:nvSpPr>
        <p:spPr>
          <a:xfrm>
            <a:off x="640080" y="6446520"/>
            <a:ext cx="9144000" cy="320040"/>
          </a:xfrm>
          <a:prstGeom prst="rect">
            <a:avLst/>
          </a:prstGeom>
          <a:noFill/>
        </p:spPr>
        <p:txBody>
          <a:bodyPr wrap="square" lIns="0" rIns="0" tIns="0" bIns="0" anchor="t">
            <a:spAutoFit/>
          </a:bodyPr>
          <a:lstStyle/>
          <a:p>
            <a:pPr algn="l">
              <a:lnSpc>
                <a:spcPct val="120000"/>
              </a:lnSpc>
            </a:pPr>
            <a:r>
              <a:rPr sz="900" b="0" i="0">
                <a:solidFill>
                  <a:srgbClr val="8A7958"/>
                </a:solidFill>
                <a:latin typeface="Geist"/>
              </a:rPr>
              <a:t>MemeBro   ·   CSE 110 Group 16   ·   Sprint Status Video 1</a:t>
            </a:r>
          </a:p>
        </p:txBody>
      </p:sp>
      <p:sp>
        <p:nvSpPr>
          <p:cNvPr id="15" name="TextBox 14"/>
          <p:cNvSpPr txBox="1"/>
          <p:nvPr/>
        </p:nvSpPr>
        <p:spPr>
          <a:xfrm>
            <a:off x="10515600" y="6446520"/>
            <a:ext cx="1097280" cy="320040"/>
          </a:xfrm>
          <a:prstGeom prst="rect">
            <a:avLst/>
          </a:prstGeom>
          <a:noFill/>
        </p:spPr>
        <p:txBody>
          <a:bodyPr wrap="square" lIns="0" rIns="0" tIns="0" bIns="0" anchor="t">
            <a:spAutoFit/>
          </a:bodyPr>
          <a:lstStyle/>
          <a:p>
            <a:pPr algn="r">
              <a:lnSpc>
                <a:spcPct val="120000"/>
              </a:lnSpc>
            </a:pPr>
            <a:r>
              <a:rPr sz="900" b="0" i="0">
                <a:solidFill>
                  <a:srgbClr val="8A7958"/>
                </a:solidFill>
                <a:latin typeface="Geist"/>
              </a:rPr>
              <a:t>3  /  8</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6EFDE"/>
        </a:solidFill>
        <a:effectLst/>
      </p:bgPr>
    </p:bg>
    <p:spTree>
      <p:nvGrpSpPr>
        <p:cNvPr id="1" name=""/>
        <p:cNvGrpSpPr/>
        <p:nvPr/>
      </p:nvGrpSpPr>
      <p:grpSpPr/>
      <p:sp>
        <p:nvSpPr>
          <p:cNvPr id="2" name="TextBox 1"/>
          <p:cNvSpPr txBox="1"/>
          <p:nvPr/>
        </p:nvSpPr>
        <p:spPr>
          <a:xfrm>
            <a:off x="640080" y="411480"/>
            <a:ext cx="10972800" cy="822960"/>
          </a:xfrm>
          <a:prstGeom prst="rect">
            <a:avLst/>
          </a:prstGeom>
          <a:noFill/>
        </p:spPr>
        <p:txBody>
          <a:bodyPr wrap="square" lIns="0" rIns="0" tIns="0" bIns="0" anchor="t">
            <a:spAutoFit/>
          </a:bodyPr>
          <a:lstStyle/>
          <a:p>
            <a:pPr algn="l">
              <a:lnSpc>
                <a:spcPct val="120000"/>
              </a:lnSpc>
            </a:pPr>
            <a:r>
              <a:rPr sz="3400" b="0" i="1">
                <a:solidFill>
                  <a:srgbClr val="1F1408"/>
                </a:solidFill>
                <a:latin typeface="Instrument Serif"/>
              </a:rPr>
              <a:t>CI/CD pipeline</a:t>
            </a:r>
          </a:p>
        </p:txBody>
      </p:sp>
      <p:sp>
        <p:nvSpPr>
          <p:cNvPr id="3" name="Rectangle 2"/>
          <p:cNvSpPr/>
          <p:nvPr/>
        </p:nvSpPr>
        <p:spPr>
          <a:xfrm>
            <a:off x="640080" y="1170432"/>
            <a:ext cx="548640" cy="54864"/>
          </a:xfrm>
          <a:prstGeom prst="rect">
            <a:avLst/>
          </a:prstGeom>
          <a:solidFill>
            <a:srgbClr val="E369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920240"/>
            <a:ext cx="10972800" cy="2286000"/>
          </a:xfrm>
          <a:prstGeom prst="rect">
            <a:avLst/>
          </a:prstGeom>
          <a:noFill/>
        </p:spPr>
        <p:txBody>
          <a:bodyPr wrap="square" lIns="0" rIns="0" tIns="0" bIns="0">
            <a:spAutoFit/>
          </a:bodyPr>
          <a:lstStyle/>
          <a:p>
            <a:pPr>
              <a:lnSpc>
                <a:spcPct val="140000"/>
              </a:lnSpc>
              <a:spcAft>
                <a:spcPts val="600"/>
              </a:spcAft>
            </a:pPr>
            <a:r>
              <a:rPr sz="1200">
                <a:solidFill>
                  <a:srgbClr val="E3691A"/>
                </a:solidFill>
                <a:latin typeface="Geist"/>
              </a:rPr>
              <a:t>●  </a:t>
            </a:r>
            <a:r>
              <a:rPr sz="1500">
                <a:solidFill>
                  <a:srgbClr val="1F1408"/>
                </a:solidFill>
                <a:latin typeface="Geist"/>
              </a:rPr>
              <a:t>Lint, unit tests, end-to-end on every push and every PR</a:t>
            </a:r>
          </a:p>
          <a:p>
            <a:pPr>
              <a:lnSpc>
                <a:spcPct val="140000"/>
              </a:lnSpc>
              <a:spcAft>
                <a:spcPts val="600"/>
              </a:spcAft>
            </a:pPr>
            <a:r>
              <a:rPr sz="1200">
                <a:solidFill>
                  <a:srgbClr val="E3691A"/>
                </a:solidFill>
                <a:latin typeface="Geist"/>
              </a:rPr>
              <a:t>●  </a:t>
            </a:r>
            <a:r>
              <a:rPr sz="1500">
                <a:solidFill>
                  <a:srgbClr val="1F1408"/>
                </a:solidFill>
                <a:latin typeface="Geist"/>
              </a:rPr>
              <a:t>Nothing merges to main without green checks</a:t>
            </a:r>
          </a:p>
          <a:p>
            <a:pPr>
              <a:lnSpc>
                <a:spcPct val="140000"/>
              </a:lnSpc>
              <a:spcAft>
                <a:spcPts val="600"/>
              </a:spcAft>
            </a:pPr>
            <a:r>
              <a:rPr sz="1200">
                <a:solidFill>
                  <a:srgbClr val="E3691A"/>
                </a:solidFill>
                <a:latin typeface="Geist"/>
              </a:rPr>
              <a:t>●  </a:t>
            </a:r>
            <a:r>
              <a:rPr sz="1500">
                <a:solidFill>
                  <a:srgbClr val="1F1408"/>
                </a:solidFill>
                <a:latin typeface="Geist"/>
              </a:rPr>
              <a:t>Branch protection on main, PR only path</a:t>
            </a:r>
          </a:p>
          <a:p>
            <a:pPr>
              <a:lnSpc>
                <a:spcPct val="140000"/>
              </a:lnSpc>
              <a:spcAft>
                <a:spcPts val="600"/>
              </a:spcAft>
            </a:pPr>
            <a:r>
              <a:rPr sz="1200">
                <a:solidFill>
                  <a:srgbClr val="E3691A"/>
                </a:solidFill>
                <a:latin typeface="Geist"/>
              </a:rPr>
              <a:t>●  </a:t>
            </a:r>
            <a:r>
              <a:rPr sz="1500">
                <a:solidFill>
                  <a:srgbClr val="1F1408"/>
                </a:solidFill>
                <a:latin typeface="Geist"/>
              </a:rPr>
              <a:t>Deploy target: Cloudflare Pages (sprint 3)</a:t>
            </a:r>
          </a:p>
          <a:p>
            <a:pPr>
              <a:lnSpc>
                <a:spcPct val="140000"/>
              </a:lnSpc>
              <a:spcAft>
                <a:spcPts val="600"/>
              </a:spcAft>
            </a:pPr>
            <a:r>
              <a:rPr sz="1200">
                <a:solidFill>
                  <a:srgbClr val="E3691A"/>
                </a:solidFill>
                <a:latin typeface="Geist"/>
              </a:rPr>
              <a:t>●  </a:t>
            </a:r>
            <a:r>
              <a:rPr sz="1500">
                <a:solidFill>
                  <a:srgbClr val="1F1408"/>
                </a:solidFill>
                <a:latin typeface="Geist"/>
              </a:rPr>
              <a:t>Pipeline in final review, lands this week</a:t>
            </a:r>
          </a:p>
        </p:txBody>
      </p:sp>
      <p:sp>
        <p:nvSpPr>
          <p:cNvPr id="5" name="Rounded Rectangle 4"/>
          <p:cNvSpPr/>
          <p:nvPr/>
        </p:nvSpPr>
        <p:spPr>
          <a:xfrm>
            <a:off x="640080" y="4846320"/>
            <a:ext cx="1554480" cy="868680"/>
          </a:xfrm>
          <a:prstGeom prst="roundRect">
            <a:avLst>
              <a:gd name="adj" fmla="val 20000"/>
            </a:avLst>
          </a:prstGeom>
          <a:solidFill>
            <a:srgbClr val="FCF8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4846320"/>
            <a:ext cx="1554480" cy="868680"/>
          </a:xfrm>
          <a:prstGeom prst="rect">
            <a:avLst/>
          </a:prstGeom>
          <a:noFill/>
        </p:spPr>
        <p:txBody>
          <a:bodyPr wrap="square" lIns="0" rIns="0" tIns="0" bIns="0" anchor="ctr">
            <a:spAutoFit/>
          </a:bodyPr>
          <a:lstStyle/>
          <a:p>
            <a:pPr algn="ctr">
              <a:lnSpc>
                <a:spcPct val="120000"/>
              </a:lnSpc>
            </a:pPr>
            <a:r>
              <a:rPr sz="1500" b="1" i="0">
                <a:solidFill>
                  <a:srgbClr val="1F1408"/>
                </a:solidFill>
                <a:latin typeface="Geist"/>
              </a:rPr>
              <a:t>Push</a:t>
            </a:r>
          </a:p>
        </p:txBody>
      </p:sp>
      <p:sp>
        <p:nvSpPr>
          <p:cNvPr id="7" name="TextBox 6"/>
          <p:cNvSpPr txBox="1"/>
          <p:nvPr/>
        </p:nvSpPr>
        <p:spPr>
          <a:xfrm>
            <a:off x="2194560" y="4846320"/>
            <a:ext cx="800100" cy="868680"/>
          </a:xfrm>
          <a:prstGeom prst="rect">
            <a:avLst/>
          </a:prstGeom>
          <a:noFill/>
        </p:spPr>
        <p:txBody>
          <a:bodyPr wrap="square" lIns="0" rIns="0" tIns="0" bIns="0" anchor="ctr">
            <a:spAutoFit/>
          </a:bodyPr>
          <a:lstStyle/>
          <a:p>
            <a:pPr algn="ctr">
              <a:lnSpc>
                <a:spcPct val="120000"/>
              </a:lnSpc>
            </a:pPr>
            <a:r>
              <a:rPr sz="2600" b="1" i="0">
                <a:solidFill>
                  <a:srgbClr val="E3691A"/>
                </a:solidFill>
                <a:latin typeface="Geist"/>
              </a:rPr>
              <a:t>→</a:t>
            </a:r>
          </a:p>
        </p:txBody>
      </p:sp>
      <p:sp>
        <p:nvSpPr>
          <p:cNvPr id="8" name="Rounded Rectangle 7"/>
          <p:cNvSpPr/>
          <p:nvPr/>
        </p:nvSpPr>
        <p:spPr>
          <a:xfrm>
            <a:off x="2994660" y="4846320"/>
            <a:ext cx="1554480" cy="868680"/>
          </a:xfrm>
          <a:prstGeom prst="roundRect">
            <a:avLst>
              <a:gd name="adj" fmla="val 20000"/>
            </a:avLst>
          </a:prstGeom>
          <a:solidFill>
            <a:srgbClr val="FCF8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994660" y="4846320"/>
            <a:ext cx="1554480" cy="868680"/>
          </a:xfrm>
          <a:prstGeom prst="rect">
            <a:avLst/>
          </a:prstGeom>
          <a:noFill/>
        </p:spPr>
        <p:txBody>
          <a:bodyPr wrap="square" lIns="0" rIns="0" tIns="0" bIns="0" anchor="ctr">
            <a:spAutoFit/>
          </a:bodyPr>
          <a:lstStyle/>
          <a:p>
            <a:pPr algn="ctr">
              <a:lnSpc>
                <a:spcPct val="120000"/>
              </a:lnSpc>
            </a:pPr>
            <a:r>
              <a:rPr sz="1500" b="1" i="0">
                <a:solidFill>
                  <a:srgbClr val="1F1408"/>
                </a:solidFill>
                <a:latin typeface="Geist"/>
              </a:rPr>
              <a:t>Lint</a:t>
            </a:r>
          </a:p>
        </p:txBody>
      </p:sp>
      <p:sp>
        <p:nvSpPr>
          <p:cNvPr id="10" name="TextBox 9"/>
          <p:cNvSpPr txBox="1"/>
          <p:nvPr/>
        </p:nvSpPr>
        <p:spPr>
          <a:xfrm>
            <a:off x="4549140" y="4846320"/>
            <a:ext cx="800100" cy="868680"/>
          </a:xfrm>
          <a:prstGeom prst="rect">
            <a:avLst/>
          </a:prstGeom>
          <a:noFill/>
        </p:spPr>
        <p:txBody>
          <a:bodyPr wrap="square" lIns="0" rIns="0" tIns="0" bIns="0" anchor="ctr">
            <a:spAutoFit/>
          </a:bodyPr>
          <a:lstStyle/>
          <a:p>
            <a:pPr algn="ctr">
              <a:lnSpc>
                <a:spcPct val="120000"/>
              </a:lnSpc>
            </a:pPr>
            <a:r>
              <a:rPr sz="2600" b="1" i="0">
                <a:solidFill>
                  <a:srgbClr val="E3691A"/>
                </a:solidFill>
                <a:latin typeface="Geist"/>
              </a:rPr>
              <a:t>→</a:t>
            </a:r>
          </a:p>
        </p:txBody>
      </p:sp>
      <p:sp>
        <p:nvSpPr>
          <p:cNvPr id="11" name="Rounded Rectangle 10"/>
          <p:cNvSpPr/>
          <p:nvPr/>
        </p:nvSpPr>
        <p:spPr>
          <a:xfrm>
            <a:off x="5349240" y="4846320"/>
            <a:ext cx="1554480" cy="868680"/>
          </a:xfrm>
          <a:prstGeom prst="roundRect">
            <a:avLst>
              <a:gd name="adj" fmla="val 20000"/>
            </a:avLst>
          </a:prstGeom>
          <a:solidFill>
            <a:srgbClr val="FCF8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349240" y="4846320"/>
            <a:ext cx="1554480" cy="868680"/>
          </a:xfrm>
          <a:prstGeom prst="rect">
            <a:avLst/>
          </a:prstGeom>
          <a:noFill/>
        </p:spPr>
        <p:txBody>
          <a:bodyPr wrap="square" lIns="0" rIns="0" tIns="0" bIns="0" anchor="ctr">
            <a:spAutoFit/>
          </a:bodyPr>
          <a:lstStyle/>
          <a:p>
            <a:pPr algn="ctr">
              <a:lnSpc>
                <a:spcPct val="120000"/>
              </a:lnSpc>
            </a:pPr>
            <a:r>
              <a:rPr sz="1500" b="1" i="0">
                <a:solidFill>
                  <a:srgbClr val="1F1408"/>
                </a:solidFill>
                <a:latin typeface="Geist"/>
              </a:rPr>
              <a:t>Unit</a:t>
            </a:r>
          </a:p>
        </p:txBody>
      </p:sp>
      <p:sp>
        <p:nvSpPr>
          <p:cNvPr id="13" name="TextBox 12"/>
          <p:cNvSpPr txBox="1"/>
          <p:nvPr/>
        </p:nvSpPr>
        <p:spPr>
          <a:xfrm>
            <a:off x="6903720" y="4846320"/>
            <a:ext cx="800100" cy="868680"/>
          </a:xfrm>
          <a:prstGeom prst="rect">
            <a:avLst/>
          </a:prstGeom>
          <a:noFill/>
        </p:spPr>
        <p:txBody>
          <a:bodyPr wrap="square" lIns="0" rIns="0" tIns="0" bIns="0" anchor="ctr">
            <a:spAutoFit/>
          </a:bodyPr>
          <a:lstStyle/>
          <a:p>
            <a:pPr algn="ctr">
              <a:lnSpc>
                <a:spcPct val="120000"/>
              </a:lnSpc>
            </a:pPr>
            <a:r>
              <a:rPr sz="2600" b="1" i="0">
                <a:solidFill>
                  <a:srgbClr val="E3691A"/>
                </a:solidFill>
                <a:latin typeface="Geist"/>
              </a:rPr>
              <a:t>→</a:t>
            </a:r>
          </a:p>
        </p:txBody>
      </p:sp>
      <p:sp>
        <p:nvSpPr>
          <p:cNvPr id="14" name="Rounded Rectangle 13"/>
          <p:cNvSpPr/>
          <p:nvPr/>
        </p:nvSpPr>
        <p:spPr>
          <a:xfrm>
            <a:off x="7703820" y="4846320"/>
            <a:ext cx="1554480" cy="868680"/>
          </a:xfrm>
          <a:prstGeom prst="roundRect">
            <a:avLst>
              <a:gd name="adj" fmla="val 20000"/>
            </a:avLst>
          </a:prstGeom>
          <a:solidFill>
            <a:srgbClr val="FCF8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03820" y="4846320"/>
            <a:ext cx="1554480" cy="868680"/>
          </a:xfrm>
          <a:prstGeom prst="rect">
            <a:avLst/>
          </a:prstGeom>
          <a:noFill/>
        </p:spPr>
        <p:txBody>
          <a:bodyPr wrap="square" lIns="0" rIns="0" tIns="0" bIns="0" anchor="ctr">
            <a:spAutoFit/>
          </a:bodyPr>
          <a:lstStyle/>
          <a:p>
            <a:pPr algn="ctr">
              <a:lnSpc>
                <a:spcPct val="120000"/>
              </a:lnSpc>
            </a:pPr>
            <a:r>
              <a:rPr sz="1500" b="1" i="0">
                <a:solidFill>
                  <a:srgbClr val="1F1408"/>
                </a:solidFill>
                <a:latin typeface="Geist"/>
              </a:rPr>
              <a:t>E2E</a:t>
            </a:r>
          </a:p>
        </p:txBody>
      </p:sp>
      <p:sp>
        <p:nvSpPr>
          <p:cNvPr id="16" name="TextBox 15"/>
          <p:cNvSpPr txBox="1"/>
          <p:nvPr/>
        </p:nvSpPr>
        <p:spPr>
          <a:xfrm>
            <a:off x="9258300" y="4846320"/>
            <a:ext cx="800100" cy="868680"/>
          </a:xfrm>
          <a:prstGeom prst="rect">
            <a:avLst/>
          </a:prstGeom>
          <a:noFill/>
        </p:spPr>
        <p:txBody>
          <a:bodyPr wrap="square" lIns="0" rIns="0" tIns="0" bIns="0" anchor="ctr">
            <a:spAutoFit/>
          </a:bodyPr>
          <a:lstStyle/>
          <a:p>
            <a:pPr algn="ctr">
              <a:lnSpc>
                <a:spcPct val="120000"/>
              </a:lnSpc>
            </a:pPr>
            <a:r>
              <a:rPr sz="2600" b="1" i="0">
                <a:solidFill>
                  <a:srgbClr val="E3691A"/>
                </a:solidFill>
                <a:latin typeface="Geist"/>
              </a:rPr>
              <a:t>→</a:t>
            </a:r>
          </a:p>
        </p:txBody>
      </p:sp>
      <p:sp>
        <p:nvSpPr>
          <p:cNvPr id="17" name="Rounded Rectangle 16"/>
          <p:cNvSpPr/>
          <p:nvPr/>
        </p:nvSpPr>
        <p:spPr>
          <a:xfrm>
            <a:off x="10058400" y="4846320"/>
            <a:ext cx="1554480" cy="868680"/>
          </a:xfrm>
          <a:prstGeom prst="roundRect">
            <a:avLst>
              <a:gd name="adj" fmla="val 20000"/>
            </a:avLst>
          </a:prstGeom>
          <a:solidFill>
            <a:srgbClr val="FCF8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058400" y="4846320"/>
            <a:ext cx="1554480" cy="868680"/>
          </a:xfrm>
          <a:prstGeom prst="rect">
            <a:avLst/>
          </a:prstGeom>
          <a:noFill/>
        </p:spPr>
        <p:txBody>
          <a:bodyPr wrap="square" lIns="0" rIns="0" tIns="0" bIns="0" anchor="ctr">
            <a:spAutoFit/>
          </a:bodyPr>
          <a:lstStyle/>
          <a:p>
            <a:pPr algn="ctr">
              <a:lnSpc>
                <a:spcPct val="120000"/>
              </a:lnSpc>
            </a:pPr>
            <a:r>
              <a:rPr sz="1500" b="1" i="0">
                <a:solidFill>
                  <a:srgbClr val="1F1408"/>
                </a:solidFill>
                <a:latin typeface="Geist"/>
              </a:rPr>
              <a:t>Deploy</a:t>
            </a:r>
          </a:p>
        </p:txBody>
      </p:sp>
      <p:sp>
        <p:nvSpPr>
          <p:cNvPr id="19" name="TextBox 18"/>
          <p:cNvSpPr txBox="1"/>
          <p:nvPr/>
        </p:nvSpPr>
        <p:spPr>
          <a:xfrm>
            <a:off x="640080" y="6446520"/>
            <a:ext cx="9144000" cy="320040"/>
          </a:xfrm>
          <a:prstGeom prst="rect">
            <a:avLst/>
          </a:prstGeom>
          <a:noFill/>
        </p:spPr>
        <p:txBody>
          <a:bodyPr wrap="square" lIns="0" rIns="0" tIns="0" bIns="0" anchor="t">
            <a:spAutoFit/>
          </a:bodyPr>
          <a:lstStyle/>
          <a:p>
            <a:pPr algn="l">
              <a:lnSpc>
                <a:spcPct val="120000"/>
              </a:lnSpc>
            </a:pPr>
            <a:r>
              <a:rPr sz="900" b="0" i="0">
                <a:solidFill>
                  <a:srgbClr val="8A7958"/>
                </a:solidFill>
                <a:latin typeface="Geist"/>
              </a:rPr>
              <a:t>MemeBro   ·   CSE 110 Group 16   ·   Sprint Status Video 1</a:t>
            </a:r>
          </a:p>
        </p:txBody>
      </p:sp>
      <p:sp>
        <p:nvSpPr>
          <p:cNvPr id="20" name="TextBox 19"/>
          <p:cNvSpPr txBox="1"/>
          <p:nvPr/>
        </p:nvSpPr>
        <p:spPr>
          <a:xfrm>
            <a:off x="10515600" y="6446520"/>
            <a:ext cx="1097280" cy="320040"/>
          </a:xfrm>
          <a:prstGeom prst="rect">
            <a:avLst/>
          </a:prstGeom>
          <a:noFill/>
        </p:spPr>
        <p:txBody>
          <a:bodyPr wrap="square" lIns="0" rIns="0" tIns="0" bIns="0" anchor="t">
            <a:spAutoFit/>
          </a:bodyPr>
          <a:lstStyle/>
          <a:p>
            <a:pPr algn="r">
              <a:lnSpc>
                <a:spcPct val="120000"/>
              </a:lnSpc>
            </a:pPr>
            <a:r>
              <a:rPr sz="900" b="0" i="0">
                <a:solidFill>
                  <a:srgbClr val="8A7958"/>
                </a:solidFill>
                <a:latin typeface="Geist"/>
              </a:rPr>
              <a:t>4  /  8</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6EFDE"/>
        </a:solidFill>
        <a:effectLst/>
      </p:bgPr>
    </p:bg>
    <p:spTree>
      <p:nvGrpSpPr>
        <p:cNvPr id="1" name=""/>
        <p:cNvGrpSpPr/>
        <p:nvPr/>
      </p:nvGrpSpPr>
      <p:grpSpPr/>
      <p:sp>
        <p:nvSpPr>
          <p:cNvPr id="2" name="TextBox 1"/>
          <p:cNvSpPr txBox="1"/>
          <p:nvPr/>
        </p:nvSpPr>
        <p:spPr>
          <a:xfrm>
            <a:off x="640080" y="411480"/>
            <a:ext cx="10972800" cy="822960"/>
          </a:xfrm>
          <a:prstGeom prst="rect">
            <a:avLst/>
          </a:prstGeom>
          <a:noFill/>
        </p:spPr>
        <p:txBody>
          <a:bodyPr wrap="square" lIns="0" rIns="0" tIns="0" bIns="0" anchor="t">
            <a:spAutoFit/>
          </a:bodyPr>
          <a:lstStyle/>
          <a:p>
            <a:pPr algn="l">
              <a:lnSpc>
                <a:spcPct val="120000"/>
              </a:lnSpc>
            </a:pPr>
            <a:r>
              <a:rPr sz="3400" b="0" i="1">
                <a:solidFill>
                  <a:srgbClr val="1F1408"/>
                </a:solidFill>
                <a:latin typeface="Instrument Serif"/>
              </a:rPr>
              <a:t>How we actually work</a:t>
            </a:r>
          </a:p>
        </p:txBody>
      </p:sp>
      <p:sp>
        <p:nvSpPr>
          <p:cNvPr id="3" name="Rectangle 2"/>
          <p:cNvSpPr/>
          <p:nvPr/>
        </p:nvSpPr>
        <p:spPr>
          <a:xfrm>
            <a:off x="640080" y="1170432"/>
            <a:ext cx="548640" cy="54864"/>
          </a:xfrm>
          <a:prstGeom prst="rect">
            <a:avLst/>
          </a:prstGeom>
          <a:solidFill>
            <a:srgbClr val="E369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920240"/>
            <a:ext cx="6400800" cy="4297680"/>
          </a:xfrm>
          <a:prstGeom prst="rect">
            <a:avLst/>
          </a:prstGeom>
          <a:noFill/>
        </p:spPr>
        <p:txBody>
          <a:bodyPr wrap="square" lIns="0" rIns="0" tIns="0" bIns="0">
            <a:spAutoFit/>
          </a:bodyPr>
          <a:lstStyle/>
          <a:p>
            <a:pPr>
              <a:lnSpc>
                <a:spcPct val="145000"/>
              </a:lnSpc>
              <a:spcAft>
                <a:spcPts val="800"/>
              </a:spcAft>
            </a:pPr>
            <a:r>
              <a:rPr sz="1100">
                <a:solidFill>
                  <a:srgbClr val="E3691A"/>
                </a:solidFill>
                <a:latin typeface="Geist"/>
              </a:rPr>
              <a:t>●  </a:t>
            </a:r>
            <a:r>
              <a:rPr sz="1400">
                <a:solidFill>
                  <a:srgbClr val="1F1408"/>
                </a:solidFill>
                <a:latin typeface="Geist"/>
              </a:rPr>
              <a:t>Project lead + 4 lanes of 2 (frontend, backend, testing/docs, design)</a:t>
            </a:r>
          </a:p>
          <a:p>
            <a:pPr>
              <a:lnSpc>
                <a:spcPct val="145000"/>
              </a:lnSpc>
              <a:spcAft>
                <a:spcPts val="800"/>
              </a:spcAft>
            </a:pPr>
            <a:r>
              <a:rPr sz="1100">
                <a:solidFill>
                  <a:srgbClr val="E3691A"/>
                </a:solidFill>
                <a:latin typeface="Geist"/>
              </a:rPr>
              <a:t>●  </a:t>
            </a:r>
            <a:r>
              <a:rPr sz="1400">
                <a:solidFill>
                  <a:srgbClr val="1F1408"/>
                </a:solidFill>
                <a:latin typeface="Geist"/>
              </a:rPr>
              <a:t>Standups at least 3 per week, all logged in the repo</a:t>
            </a:r>
          </a:p>
          <a:p>
            <a:pPr>
              <a:lnSpc>
                <a:spcPct val="145000"/>
              </a:lnSpc>
              <a:spcAft>
                <a:spcPts val="800"/>
              </a:spcAft>
            </a:pPr>
            <a:r>
              <a:rPr sz="1100">
                <a:solidFill>
                  <a:srgbClr val="E3691A"/>
                </a:solidFill>
                <a:latin typeface="Geist"/>
              </a:rPr>
              <a:t>●  </a:t>
            </a:r>
            <a:r>
              <a:rPr sz="1400">
                <a:solidFill>
                  <a:srgbClr val="1F1408"/>
                </a:solidFill>
                <a:latin typeface="Geist"/>
              </a:rPr>
              <a:t>Weekly TA meeting with action items tracked</a:t>
            </a:r>
          </a:p>
          <a:p>
            <a:pPr>
              <a:lnSpc>
                <a:spcPct val="145000"/>
              </a:lnSpc>
              <a:spcAft>
                <a:spcPts val="800"/>
              </a:spcAft>
            </a:pPr>
            <a:r>
              <a:rPr sz="1100">
                <a:solidFill>
                  <a:srgbClr val="E3691A"/>
                </a:solidFill>
                <a:latin typeface="Geist"/>
              </a:rPr>
              <a:t>●  </a:t>
            </a:r>
            <a:r>
              <a:rPr sz="1400">
                <a:solidFill>
                  <a:srgbClr val="1F1408"/>
                </a:solidFill>
                <a:latin typeface="Geist"/>
              </a:rPr>
              <a:t>All decisions land in ADRs, not Slack</a:t>
            </a:r>
          </a:p>
          <a:p>
            <a:pPr>
              <a:lnSpc>
                <a:spcPct val="145000"/>
              </a:lnSpc>
              <a:spcAft>
                <a:spcPts val="800"/>
              </a:spcAft>
            </a:pPr>
            <a:r>
              <a:rPr sz="1100">
                <a:solidFill>
                  <a:srgbClr val="E3691A"/>
                </a:solidFill>
                <a:latin typeface="Geist"/>
              </a:rPr>
              <a:t>●  </a:t>
            </a:r>
            <a:r>
              <a:rPr sz="1400">
                <a:solidFill>
                  <a:srgbClr val="1F1408"/>
                </a:solidFill>
                <a:latin typeface="Geist"/>
              </a:rPr>
              <a:t>AGENTS.md keeps human and AI code consistent</a:t>
            </a:r>
          </a:p>
          <a:p>
            <a:pPr>
              <a:lnSpc>
                <a:spcPct val="145000"/>
              </a:lnSpc>
              <a:spcAft>
                <a:spcPts val="800"/>
              </a:spcAft>
            </a:pPr>
            <a:r>
              <a:rPr sz="1100">
                <a:solidFill>
                  <a:srgbClr val="E3691A"/>
                </a:solidFill>
                <a:latin typeface="Geist"/>
              </a:rPr>
              <a:t>●  </a:t>
            </a:r>
            <a:r>
              <a:rPr sz="1400">
                <a:solidFill>
                  <a:srgbClr val="1F1408"/>
                </a:solidFill>
                <a:latin typeface="Geist"/>
              </a:rPr>
              <a:t>GitHub Issues are the source of truth, not Slack</a:t>
            </a:r>
          </a:p>
        </p:txBody>
      </p:sp>
      <p:sp>
        <p:nvSpPr>
          <p:cNvPr id="5" name="Rounded Rectangle 4"/>
          <p:cNvSpPr/>
          <p:nvPr/>
        </p:nvSpPr>
        <p:spPr>
          <a:xfrm>
            <a:off x="8595360" y="2011680"/>
            <a:ext cx="1645920" cy="640080"/>
          </a:xfrm>
          <a:prstGeom prst="roundRect">
            <a:avLst>
              <a:gd name="adj" fmla="val 20000"/>
            </a:avLst>
          </a:prstGeom>
          <a:solidFill>
            <a:srgbClr val="FCE6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0" y="2011680"/>
            <a:ext cx="1645920" cy="640080"/>
          </a:xfrm>
          <a:prstGeom prst="rect">
            <a:avLst/>
          </a:prstGeom>
          <a:noFill/>
        </p:spPr>
        <p:txBody>
          <a:bodyPr wrap="square" lIns="0" rIns="0" tIns="0" bIns="0" anchor="ctr">
            <a:spAutoFit/>
          </a:bodyPr>
          <a:lstStyle/>
          <a:p>
            <a:pPr algn="ctr">
              <a:lnSpc>
                <a:spcPct val="120000"/>
              </a:lnSpc>
            </a:pPr>
            <a:r>
              <a:rPr sz="1200" b="1" i="0">
                <a:solidFill>
                  <a:srgbClr val="B04C0C"/>
                </a:solidFill>
                <a:latin typeface="Geist"/>
              </a:rPr>
              <a:t>Project Lead</a:t>
            </a:r>
          </a:p>
        </p:txBody>
      </p:sp>
      <p:sp>
        <p:nvSpPr>
          <p:cNvPr id="7" name="Rectangle 6"/>
          <p:cNvSpPr/>
          <p:nvPr/>
        </p:nvSpPr>
        <p:spPr>
          <a:xfrm>
            <a:off x="9400032" y="2651760"/>
            <a:ext cx="36576" cy="274320"/>
          </a:xfrm>
          <a:prstGeom prst="rect">
            <a:avLst/>
          </a:prstGeom>
          <a:solidFill>
            <a:srgbClr val="D4B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406640" y="3017520"/>
            <a:ext cx="1874519" cy="777240"/>
          </a:xfrm>
          <a:prstGeom prst="roundRect">
            <a:avLst>
              <a:gd name="adj" fmla="val 15000"/>
            </a:avLst>
          </a:prstGeom>
          <a:solidFill>
            <a:srgbClr val="FCF8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406640" y="3017520"/>
            <a:ext cx="91440" cy="777240"/>
          </a:xfrm>
          <a:prstGeom prst="rect">
            <a:avLst/>
          </a:prstGeom>
          <a:solidFill>
            <a:srgbClr val="6FB8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635240" y="3017520"/>
            <a:ext cx="1600199" cy="777240"/>
          </a:xfrm>
          <a:prstGeom prst="rect">
            <a:avLst/>
          </a:prstGeom>
          <a:noFill/>
        </p:spPr>
        <p:txBody>
          <a:bodyPr wrap="square" lIns="0" rIns="0" tIns="0" bIns="0" anchor="ctr">
            <a:spAutoFit/>
          </a:bodyPr>
          <a:lstStyle/>
          <a:p>
            <a:pPr algn="l">
              <a:lnSpc>
                <a:spcPct val="120000"/>
              </a:lnSpc>
            </a:pPr>
            <a:r>
              <a:rPr sz="1200" b="1" i="0">
                <a:solidFill>
                  <a:srgbClr val="1F1408"/>
                </a:solidFill>
                <a:latin typeface="Geist"/>
              </a:rPr>
              <a:t>Frontend</a:t>
            </a:r>
          </a:p>
        </p:txBody>
      </p:sp>
      <p:sp>
        <p:nvSpPr>
          <p:cNvPr id="11" name="Rounded Rectangle 10"/>
          <p:cNvSpPr/>
          <p:nvPr/>
        </p:nvSpPr>
        <p:spPr>
          <a:xfrm>
            <a:off x="9418319" y="3017520"/>
            <a:ext cx="1874519" cy="777240"/>
          </a:xfrm>
          <a:prstGeom prst="roundRect">
            <a:avLst>
              <a:gd name="adj" fmla="val 15000"/>
            </a:avLst>
          </a:prstGeom>
          <a:solidFill>
            <a:srgbClr val="FCF8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9418319" y="3017520"/>
            <a:ext cx="91440" cy="777240"/>
          </a:xfrm>
          <a:prstGeom prst="rect">
            <a:avLst/>
          </a:prstGeom>
          <a:solidFill>
            <a:srgbClr val="6A8F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46919" y="3017520"/>
            <a:ext cx="1600199" cy="777240"/>
          </a:xfrm>
          <a:prstGeom prst="rect">
            <a:avLst/>
          </a:prstGeom>
          <a:noFill/>
        </p:spPr>
        <p:txBody>
          <a:bodyPr wrap="square" lIns="0" rIns="0" tIns="0" bIns="0" anchor="ctr">
            <a:spAutoFit/>
          </a:bodyPr>
          <a:lstStyle/>
          <a:p>
            <a:pPr algn="l">
              <a:lnSpc>
                <a:spcPct val="120000"/>
              </a:lnSpc>
            </a:pPr>
            <a:r>
              <a:rPr sz="1200" b="1" i="0">
                <a:solidFill>
                  <a:srgbClr val="1F1408"/>
                </a:solidFill>
                <a:latin typeface="Geist"/>
              </a:rPr>
              <a:t>Backend</a:t>
            </a:r>
          </a:p>
        </p:txBody>
      </p:sp>
      <p:sp>
        <p:nvSpPr>
          <p:cNvPr id="14" name="Rounded Rectangle 13"/>
          <p:cNvSpPr/>
          <p:nvPr/>
        </p:nvSpPr>
        <p:spPr>
          <a:xfrm>
            <a:off x="7406640" y="3931920"/>
            <a:ext cx="1874519" cy="777240"/>
          </a:xfrm>
          <a:prstGeom prst="roundRect">
            <a:avLst>
              <a:gd name="adj" fmla="val 15000"/>
            </a:avLst>
          </a:prstGeom>
          <a:solidFill>
            <a:srgbClr val="FCF8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406640" y="3931920"/>
            <a:ext cx="91440" cy="777240"/>
          </a:xfrm>
          <a:prstGeom prst="rect">
            <a:avLst/>
          </a:prstGeom>
          <a:solidFill>
            <a:srgbClr val="D973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635240" y="3931920"/>
            <a:ext cx="1600199" cy="777240"/>
          </a:xfrm>
          <a:prstGeom prst="rect">
            <a:avLst/>
          </a:prstGeom>
          <a:noFill/>
        </p:spPr>
        <p:txBody>
          <a:bodyPr wrap="square" lIns="0" rIns="0" tIns="0" bIns="0" anchor="ctr">
            <a:spAutoFit/>
          </a:bodyPr>
          <a:lstStyle/>
          <a:p>
            <a:pPr algn="l">
              <a:lnSpc>
                <a:spcPct val="120000"/>
              </a:lnSpc>
            </a:pPr>
            <a:r>
              <a:rPr sz="1200" b="1" i="0">
                <a:solidFill>
                  <a:srgbClr val="1F1408"/>
                </a:solidFill>
                <a:latin typeface="Geist"/>
              </a:rPr>
              <a:t>Testing &amp; Docs</a:t>
            </a:r>
          </a:p>
        </p:txBody>
      </p:sp>
      <p:sp>
        <p:nvSpPr>
          <p:cNvPr id="17" name="Rounded Rectangle 16"/>
          <p:cNvSpPr/>
          <p:nvPr/>
        </p:nvSpPr>
        <p:spPr>
          <a:xfrm>
            <a:off x="9418319" y="3931920"/>
            <a:ext cx="1874519" cy="777240"/>
          </a:xfrm>
          <a:prstGeom prst="roundRect">
            <a:avLst>
              <a:gd name="adj" fmla="val 15000"/>
            </a:avLst>
          </a:prstGeom>
          <a:solidFill>
            <a:srgbClr val="FCF8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9418319" y="3931920"/>
            <a:ext cx="91440" cy="777240"/>
          </a:xfrm>
          <a:prstGeom prst="rect">
            <a:avLst/>
          </a:prstGeom>
          <a:solidFill>
            <a:srgbClr val="F088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646919" y="3931920"/>
            <a:ext cx="1600199" cy="777240"/>
          </a:xfrm>
          <a:prstGeom prst="rect">
            <a:avLst/>
          </a:prstGeom>
          <a:noFill/>
        </p:spPr>
        <p:txBody>
          <a:bodyPr wrap="square" lIns="0" rIns="0" tIns="0" bIns="0" anchor="ctr">
            <a:spAutoFit/>
          </a:bodyPr>
          <a:lstStyle/>
          <a:p>
            <a:pPr algn="l">
              <a:lnSpc>
                <a:spcPct val="120000"/>
              </a:lnSpc>
            </a:pPr>
            <a:r>
              <a:rPr sz="1200" b="1" i="0">
                <a:solidFill>
                  <a:srgbClr val="1F1408"/>
                </a:solidFill>
                <a:latin typeface="Geist"/>
              </a:rPr>
              <a:t>Design</a:t>
            </a:r>
          </a:p>
        </p:txBody>
      </p:sp>
      <p:sp>
        <p:nvSpPr>
          <p:cNvPr id="20" name="TextBox 19"/>
          <p:cNvSpPr txBox="1"/>
          <p:nvPr/>
        </p:nvSpPr>
        <p:spPr>
          <a:xfrm>
            <a:off x="640080" y="6446520"/>
            <a:ext cx="9144000" cy="320040"/>
          </a:xfrm>
          <a:prstGeom prst="rect">
            <a:avLst/>
          </a:prstGeom>
          <a:noFill/>
        </p:spPr>
        <p:txBody>
          <a:bodyPr wrap="square" lIns="0" rIns="0" tIns="0" bIns="0" anchor="t">
            <a:spAutoFit/>
          </a:bodyPr>
          <a:lstStyle/>
          <a:p>
            <a:pPr algn="l">
              <a:lnSpc>
                <a:spcPct val="120000"/>
              </a:lnSpc>
            </a:pPr>
            <a:r>
              <a:rPr sz="900" b="0" i="0">
                <a:solidFill>
                  <a:srgbClr val="8A7958"/>
                </a:solidFill>
                <a:latin typeface="Geist"/>
              </a:rPr>
              <a:t>MemeBro   ·   CSE 110 Group 16   ·   Sprint Status Video 1</a:t>
            </a:r>
          </a:p>
        </p:txBody>
      </p:sp>
      <p:sp>
        <p:nvSpPr>
          <p:cNvPr id="21" name="TextBox 20"/>
          <p:cNvSpPr txBox="1"/>
          <p:nvPr/>
        </p:nvSpPr>
        <p:spPr>
          <a:xfrm>
            <a:off x="10515600" y="6446520"/>
            <a:ext cx="1097280" cy="320040"/>
          </a:xfrm>
          <a:prstGeom prst="rect">
            <a:avLst/>
          </a:prstGeom>
          <a:noFill/>
        </p:spPr>
        <p:txBody>
          <a:bodyPr wrap="square" lIns="0" rIns="0" tIns="0" bIns="0" anchor="t">
            <a:spAutoFit/>
          </a:bodyPr>
          <a:lstStyle/>
          <a:p>
            <a:pPr algn="r">
              <a:lnSpc>
                <a:spcPct val="120000"/>
              </a:lnSpc>
            </a:pPr>
            <a:r>
              <a:rPr sz="900" b="0" i="0">
                <a:solidFill>
                  <a:srgbClr val="8A7958"/>
                </a:solidFill>
                <a:latin typeface="Geist"/>
              </a:rPr>
              <a:t>5  /  8</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6EFDE"/>
        </a:solidFill>
        <a:effectLst/>
      </p:bgPr>
    </p:bg>
    <p:spTree>
      <p:nvGrpSpPr>
        <p:cNvPr id="1" name=""/>
        <p:cNvGrpSpPr/>
        <p:nvPr/>
      </p:nvGrpSpPr>
      <p:grpSpPr/>
      <p:sp>
        <p:nvSpPr>
          <p:cNvPr id="2" name="TextBox 1"/>
          <p:cNvSpPr txBox="1"/>
          <p:nvPr/>
        </p:nvSpPr>
        <p:spPr>
          <a:xfrm>
            <a:off x="640080" y="411480"/>
            <a:ext cx="10972800" cy="822960"/>
          </a:xfrm>
          <a:prstGeom prst="rect">
            <a:avLst/>
          </a:prstGeom>
          <a:noFill/>
        </p:spPr>
        <p:txBody>
          <a:bodyPr wrap="square" lIns="0" rIns="0" tIns="0" bIns="0" anchor="t">
            <a:spAutoFit/>
          </a:bodyPr>
          <a:lstStyle/>
          <a:p>
            <a:pPr algn="l">
              <a:lnSpc>
                <a:spcPct val="120000"/>
              </a:lnSpc>
            </a:pPr>
            <a:r>
              <a:rPr sz="3400" b="0" i="1">
                <a:solidFill>
                  <a:srgbClr val="1F1408"/>
                </a:solidFill>
                <a:latin typeface="Instrument Serif"/>
              </a:rPr>
              <a:t>Challenges, and how we navigated them</a:t>
            </a:r>
          </a:p>
        </p:txBody>
      </p:sp>
      <p:sp>
        <p:nvSpPr>
          <p:cNvPr id="3" name="Rectangle 2"/>
          <p:cNvSpPr/>
          <p:nvPr/>
        </p:nvSpPr>
        <p:spPr>
          <a:xfrm>
            <a:off x="640080" y="1170432"/>
            <a:ext cx="548640" cy="54864"/>
          </a:xfrm>
          <a:prstGeom prst="rect">
            <a:avLst/>
          </a:prstGeom>
          <a:solidFill>
            <a:srgbClr val="E369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0"/>
            <a:ext cx="5120640" cy="365760"/>
          </a:xfrm>
          <a:prstGeom prst="rect">
            <a:avLst/>
          </a:prstGeom>
          <a:noFill/>
        </p:spPr>
        <p:txBody>
          <a:bodyPr wrap="square" lIns="0" rIns="0" tIns="0" bIns="0" anchor="t">
            <a:spAutoFit/>
          </a:bodyPr>
          <a:lstStyle/>
          <a:p>
            <a:pPr algn="l">
              <a:lnSpc>
                <a:spcPct val="120000"/>
              </a:lnSpc>
            </a:pPr>
            <a:r>
              <a:rPr sz="1100" b="1" i="0">
                <a:solidFill>
                  <a:srgbClr val="8A7958"/>
                </a:solidFill>
                <a:latin typeface="Geist"/>
              </a:rPr>
              <a:t>Challenge</a:t>
            </a:r>
          </a:p>
        </p:txBody>
      </p:sp>
      <p:sp>
        <p:nvSpPr>
          <p:cNvPr id="5" name="TextBox 4"/>
          <p:cNvSpPr txBox="1"/>
          <p:nvPr/>
        </p:nvSpPr>
        <p:spPr>
          <a:xfrm>
            <a:off x="6126480" y="1828800"/>
            <a:ext cx="5486400" cy="365760"/>
          </a:xfrm>
          <a:prstGeom prst="rect">
            <a:avLst/>
          </a:prstGeom>
          <a:noFill/>
        </p:spPr>
        <p:txBody>
          <a:bodyPr wrap="square" lIns="0" rIns="0" tIns="0" bIns="0" anchor="t">
            <a:spAutoFit/>
          </a:bodyPr>
          <a:lstStyle/>
          <a:p>
            <a:pPr algn="l">
              <a:lnSpc>
                <a:spcPct val="120000"/>
              </a:lnSpc>
            </a:pPr>
            <a:r>
              <a:rPr sz="1100" b="1" i="0">
                <a:solidFill>
                  <a:srgbClr val="E3691A"/>
                </a:solidFill>
                <a:latin typeface="Geist"/>
              </a:rPr>
              <a:t>How we navigated it</a:t>
            </a:r>
          </a:p>
        </p:txBody>
      </p:sp>
      <p:sp>
        <p:nvSpPr>
          <p:cNvPr id="6" name="Rectangle 5"/>
          <p:cNvSpPr/>
          <p:nvPr/>
        </p:nvSpPr>
        <p:spPr>
          <a:xfrm>
            <a:off x="640080" y="2240280"/>
            <a:ext cx="10972800" cy="13716"/>
          </a:xfrm>
          <a:prstGeom prst="rect">
            <a:avLst/>
          </a:prstGeom>
          <a:solidFill>
            <a:srgbClr val="E6D6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2377440"/>
            <a:ext cx="5029200" cy="713232"/>
          </a:xfrm>
          <a:prstGeom prst="rect">
            <a:avLst/>
          </a:prstGeom>
          <a:noFill/>
        </p:spPr>
        <p:txBody>
          <a:bodyPr wrap="square" lIns="0" rIns="0" tIns="0" bIns="0" anchor="ctr">
            <a:spAutoFit/>
          </a:bodyPr>
          <a:lstStyle/>
          <a:p>
            <a:pPr algn="l">
              <a:lnSpc>
                <a:spcPct val="120000"/>
              </a:lnSpc>
            </a:pPr>
            <a:r>
              <a:rPr sz="1300" b="0" i="0">
                <a:solidFill>
                  <a:srgbClr val="4A3A26"/>
                </a:solidFill>
                <a:latin typeface="Geist"/>
              </a:rPr>
              <a:t>Backend stack decision was non-trivial</a:t>
            </a:r>
          </a:p>
        </p:txBody>
      </p:sp>
      <p:sp>
        <p:nvSpPr>
          <p:cNvPr id="8" name="Rounded Rectangle 7"/>
          <p:cNvSpPr/>
          <p:nvPr/>
        </p:nvSpPr>
        <p:spPr>
          <a:xfrm>
            <a:off x="6126480" y="2377440"/>
            <a:ext cx="5486400" cy="713232"/>
          </a:xfrm>
          <a:prstGeom prst="roundRect">
            <a:avLst>
              <a:gd name="adj" fmla="val 20000"/>
            </a:avLst>
          </a:prstGeom>
          <a:solidFill>
            <a:srgbClr val="FCE6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2377440"/>
            <a:ext cx="5029200" cy="713232"/>
          </a:xfrm>
          <a:prstGeom prst="rect">
            <a:avLst/>
          </a:prstGeom>
          <a:noFill/>
        </p:spPr>
        <p:txBody>
          <a:bodyPr wrap="square" lIns="0" rIns="0" tIns="0" bIns="0" anchor="ctr">
            <a:spAutoFit/>
          </a:bodyPr>
          <a:lstStyle/>
          <a:p>
            <a:pPr algn="l">
              <a:lnSpc>
                <a:spcPct val="120000"/>
              </a:lnSpc>
            </a:pPr>
            <a:r>
              <a:rPr sz="1300" b="0" i="0">
                <a:solidFill>
                  <a:srgbClr val="B04C0C"/>
                </a:solidFill>
                <a:latin typeface="Geist"/>
              </a:rPr>
              <a:t>Structured deferral ADR with a re-decision date</a:t>
            </a:r>
          </a:p>
        </p:txBody>
      </p:sp>
      <p:sp>
        <p:nvSpPr>
          <p:cNvPr id="10" name="TextBox 9"/>
          <p:cNvSpPr txBox="1"/>
          <p:nvPr/>
        </p:nvSpPr>
        <p:spPr>
          <a:xfrm>
            <a:off x="731520" y="3182112"/>
            <a:ext cx="5029200" cy="713232"/>
          </a:xfrm>
          <a:prstGeom prst="rect">
            <a:avLst/>
          </a:prstGeom>
          <a:noFill/>
        </p:spPr>
        <p:txBody>
          <a:bodyPr wrap="square" lIns="0" rIns="0" tIns="0" bIns="0" anchor="ctr">
            <a:spAutoFit/>
          </a:bodyPr>
          <a:lstStyle/>
          <a:p>
            <a:pPr algn="l">
              <a:lnSpc>
                <a:spcPct val="120000"/>
              </a:lnSpc>
            </a:pPr>
            <a:r>
              <a:rPr sz="1300" b="0" i="0">
                <a:solidFill>
                  <a:srgbClr val="4A3A26"/>
                </a:solidFill>
                <a:latin typeface="Geist"/>
              </a:rPr>
              <a:t>Hosting target evolved with AI integration shape</a:t>
            </a:r>
          </a:p>
        </p:txBody>
      </p:sp>
      <p:sp>
        <p:nvSpPr>
          <p:cNvPr id="11" name="Rounded Rectangle 10"/>
          <p:cNvSpPr/>
          <p:nvPr/>
        </p:nvSpPr>
        <p:spPr>
          <a:xfrm>
            <a:off x="6126480" y="3182112"/>
            <a:ext cx="5486400" cy="713232"/>
          </a:xfrm>
          <a:prstGeom prst="roundRect">
            <a:avLst>
              <a:gd name="adj" fmla="val 20000"/>
            </a:avLst>
          </a:prstGeom>
          <a:solidFill>
            <a:srgbClr val="FCE6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0" y="3182112"/>
            <a:ext cx="5029200" cy="713232"/>
          </a:xfrm>
          <a:prstGeom prst="rect">
            <a:avLst/>
          </a:prstGeom>
          <a:noFill/>
        </p:spPr>
        <p:txBody>
          <a:bodyPr wrap="square" lIns="0" rIns="0" tIns="0" bIns="0" anchor="ctr">
            <a:spAutoFit/>
          </a:bodyPr>
          <a:lstStyle/>
          <a:p>
            <a:pPr algn="l">
              <a:lnSpc>
                <a:spcPct val="120000"/>
              </a:lnSpc>
            </a:pPr>
            <a:r>
              <a:rPr sz="1300" b="0" i="0">
                <a:solidFill>
                  <a:srgbClr val="B04C0C"/>
                </a:solidFill>
                <a:latin typeface="Geist"/>
              </a:rPr>
              <a:t>Pivoted to Cloudflare Pages, captured in an ADR</a:t>
            </a:r>
          </a:p>
        </p:txBody>
      </p:sp>
      <p:sp>
        <p:nvSpPr>
          <p:cNvPr id="13" name="TextBox 12"/>
          <p:cNvSpPr txBox="1"/>
          <p:nvPr/>
        </p:nvSpPr>
        <p:spPr>
          <a:xfrm>
            <a:off x="731520" y="3986784"/>
            <a:ext cx="5029200" cy="713232"/>
          </a:xfrm>
          <a:prstGeom prst="rect">
            <a:avLst/>
          </a:prstGeom>
          <a:noFill/>
        </p:spPr>
        <p:txBody>
          <a:bodyPr wrap="square" lIns="0" rIns="0" tIns="0" bIns="0" anchor="ctr">
            <a:spAutoFit/>
          </a:bodyPr>
          <a:lstStyle/>
          <a:p>
            <a:pPr algn="l">
              <a:lnSpc>
                <a:spcPct val="120000"/>
              </a:lnSpc>
            </a:pPr>
            <a:r>
              <a:rPr sz="1300" b="0" i="0">
                <a:solidFill>
                  <a:srgbClr val="4A3A26"/>
                </a:solidFill>
                <a:latin typeface="Geist"/>
              </a:rPr>
              <a:t>Testing infrastructure was bigger than one issue</a:t>
            </a:r>
          </a:p>
        </p:txBody>
      </p:sp>
      <p:sp>
        <p:nvSpPr>
          <p:cNvPr id="14" name="Rounded Rectangle 13"/>
          <p:cNvSpPr/>
          <p:nvPr/>
        </p:nvSpPr>
        <p:spPr>
          <a:xfrm>
            <a:off x="6126480" y="3986784"/>
            <a:ext cx="5486400" cy="713232"/>
          </a:xfrm>
          <a:prstGeom prst="roundRect">
            <a:avLst>
              <a:gd name="adj" fmla="val 20000"/>
            </a:avLst>
          </a:prstGeom>
          <a:solidFill>
            <a:srgbClr val="FCE6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3986784"/>
            <a:ext cx="5029200" cy="713232"/>
          </a:xfrm>
          <a:prstGeom prst="rect">
            <a:avLst/>
          </a:prstGeom>
          <a:noFill/>
        </p:spPr>
        <p:txBody>
          <a:bodyPr wrap="square" lIns="0" rIns="0" tIns="0" bIns="0" anchor="ctr">
            <a:spAutoFit/>
          </a:bodyPr>
          <a:lstStyle/>
          <a:p>
            <a:pPr algn="l">
              <a:lnSpc>
                <a:spcPct val="120000"/>
              </a:lnSpc>
            </a:pPr>
            <a:r>
              <a:rPr sz="1300" b="0" i="0">
                <a:solidFill>
                  <a:srgbClr val="B04C0C"/>
                </a:solidFill>
                <a:latin typeface="Geist"/>
              </a:rPr>
              <a:t>Split into lint, unit, and end-to-end sub-issues</a:t>
            </a:r>
          </a:p>
        </p:txBody>
      </p:sp>
      <p:sp>
        <p:nvSpPr>
          <p:cNvPr id="16" name="TextBox 15"/>
          <p:cNvSpPr txBox="1"/>
          <p:nvPr/>
        </p:nvSpPr>
        <p:spPr>
          <a:xfrm>
            <a:off x="731520" y="4791456"/>
            <a:ext cx="5029200" cy="713232"/>
          </a:xfrm>
          <a:prstGeom prst="rect">
            <a:avLst/>
          </a:prstGeom>
          <a:noFill/>
        </p:spPr>
        <p:txBody>
          <a:bodyPr wrap="square" lIns="0" rIns="0" tIns="0" bIns="0" anchor="ctr">
            <a:spAutoFit/>
          </a:bodyPr>
          <a:lstStyle/>
          <a:p>
            <a:pPr algn="l">
              <a:lnSpc>
                <a:spcPct val="120000"/>
              </a:lnSpc>
            </a:pPr>
            <a:r>
              <a:rPr sz="1300" b="0" i="0">
                <a:solidFill>
                  <a:srgbClr val="4A3A26"/>
                </a:solidFill>
                <a:latin typeface="Geist"/>
              </a:rPr>
              <a:t>Coordinating AI-assisted code across many contributors</a:t>
            </a:r>
          </a:p>
        </p:txBody>
      </p:sp>
      <p:sp>
        <p:nvSpPr>
          <p:cNvPr id="17" name="Rounded Rectangle 16"/>
          <p:cNvSpPr/>
          <p:nvPr/>
        </p:nvSpPr>
        <p:spPr>
          <a:xfrm>
            <a:off x="6126480" y="4791456"/>
            <a:ext cx="5486400" cy="713232"/>
          </a:xfrm>
          <a:prstGeom prst="roundRect">
            <a:avLst>
              <a:gd name="adj" fmla="val 20000"/>
            </a:avLst>
          </a:prstGeom>
          <a:solidFill>
            <a:srgbClr val="FCE6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0" y="4791456"/>
            <a:ext cx="5029200" cy="713232"/>
          </a:xfrm>
          <a:prstGeom prst="rect">
            <a:avLst/>
          </a:prstGeom>
          <a:noFill/>
        </p:spPr>
        <p:txBody>
          <a:bodyPr wrap="square" lIns="0" rIns="0" tIns="0" bIns="0" anchor="ctr">
            <a:spAutoFit/>
          </a:bodyPr>
          <a:lstStyle/>
          <a:p>
            <a:pPr algn="l">
              <a:lnSpc>
                <a:spcPct val="120000"/>
              </a:lnSpc>
            </a:pPr>
            <a:r>
              <a:rPr sz="1300" b="0" i="0">
                <a:solidFill>
                  <a:srgbClr val="B04C0C"/>
                </a:solidFill>
                <a:latin typeface="Geist"/>
              </a:rPr>
              <a:t>AGENTS.md as a shared contract for the codebase</a:t>
            </a:r>
          </a:p>
        </p:txBody>
      </p:sp>
      <p:sp>
        <p:nvSpPr>
          <p:cNvPr id="19" name="TextBox 18"/>
          <p:cNvSpPr txBox="1"/>
          <p:nvPr/>
        </p:nvSpPr>
        <p:spPr>
          <a:xfrm>
            <a:off x="731520" y="5596128"/>
            <a:ext cx="5029200" cy="713232"/>
          </a:xfrm>
          <a:prstGeom prst="rect">
            <a:avLst/>
          </a:prstGeom>
          <a:noFill/>
        </p:spPr>
        <p:txBody>
          <a:bodyPr wrap="square" lIns="0" rIns="0" tIns="0" bIns="0" anchor="ctr">
            <a:spAutoFit/>
          </a:bodyPr>
          <a:lstStyle/>
          <a:p>
            <a:pPr algn="l">
              <a:lnSpc>
                <a:spcPct val="120000"/>
              </a:lnSpc>
            </a:pPr>
            <a:r>
              <a:rPr sz="1300" b="0" i="0">
                <a:solidFill>
                  <a:srgbClr val="4A3A26"/>
                </a:solidFill>
                <a:latin typeface="Geist"/>
              </a:rPr>
              <a:t>Cross-team PR review at scale</a:t>
            </a:r>
          </a:p>
        </p:txBody>
      </p:sp>
      <p:sp>
        <p:nvSpPr>
          <p:cNvPr id="20" name="Rounded Rectangle 19"/>
          <p:cNvSpPr/>
          <p:nvPr/>
        </p:nvSpPr>
        <p:spPr>
          <a:xfrm>
            <a:off x="6126480" y="5596128"/>
            <a:ext cx="5486400" cy="713232"/>
          </a:xfrm>
          <a:prstGeom prst="roundRect">
            <a:avLst>
              <a:gd name="adj" fmla="val 20000"/>
            </a:avLst>
          </a:prstGeom>
          <a:solidFill>
            <a:srgbClr val="FCE6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0800" y="5596128"/>
            <a:ext cx="5029200" cy="713232"/>
          </a:xfrm>
          <a:prstGeom prst="rect">
            <a:avLst/>
          </a:prstGeom>
          <a:noFill/>
        </p:spPr>
        <p:txBody>
          <a:bodyPr wrap="square" lIns="0" rIns="0" tIns="0" bIns="0" anchor="ctr">
            <a:spAutoFit/>
          </a:bodyPr>
          <a:lstStyle/>
          <a:p>
            <a:pPr algn="l">
              <a:lnSpc>
                <a:spcPct val="120000"/>
              </a:lnSpc>
            </a:pPr>
            <a:r>
              <a:rPr sz="1300" b="0" i="0">
                <a:solidFill>
                  <a:srgbClr val="B04C0C"/>
                </a:solidFill>
                <a:latin typeface="Geist"/>
              </a:rPr>
              <a:t>24 hour review SLA + lane Slack channels</a:t>
            </a:r>
          </a:p>
        </p:txBody>
      </p:sp>
      <p:sp>
        <p:nvSpPr>
          <p:cNvPr id="22" name="TextBox 21"/>
          <p:cNvSpPr txBox="1"/>
          <p:nvPr/>
        </p:nvSpPr>
        <p:spPr>
          <a:xfrm>
            <a:off x="640080" y="6446520"/>
            <a:ext cx="9144000" cy="320040"/>
          </a:xfrm>
          <a:prstGeom prst="rect">
            <a:avLst/>
          </a:prstGeom>
          <a:noFill/>
        </p:spPr>
        <p:txBody>
          <a:bodyPr wrap="square" lIns="0" rIns="0" tIns="0" bIns="0" anchor="t">
            <a:spAutoFit/>
          </a:bodyPr>
          <a:lstStyle/>
          <a:p>
            <a:pPr algn="l">
              <a:lnSpc>
                <a:spcPct val="120000"/>
              </a:lnSpc>
            </a:pPr>
            <a:r>
              <a:rPr sz="900" b="0" i="0">
                <a:solidFill>
                  <a:srgbClr val="8A7958"/>
                </a:solidFill>
                <a:latin typeface="Geist"/>
              </a:rPr>
              <a:t>MemeBro   ·   CSE 110 Group 16   ·   Sprint Status Video 1</a:t>
            </a:r>
          </a:p>
        </p:txBody>
      </p:sp>
      <p:sp>
        <p:nvSpPr>
          <p:cNvPr id="23" name="TextBox 22"/>
          <p:cNvSpPr txBox="1"/>
          <p:nvPr/>
        </p:nvSpPr>
        <p:spPr>
          <a:xfrm>
            <a:off x="10515600" y="6446520"/>
            <a:ext cx="1097280" cy="320040"/>
          </a:xfrm>
          <a:prstGeom prst="rect">
            <a:avLst/>
          </a:prstGeom>
          <a:noFill/>
        </p:spPr>
        <p:txBody>
          <a:bodyPr wrap="square" lIns="0" rIns="0" tIns="0" bIns="0" anchor="t">
            <a:spAutoFit/>
          </a:bodyPr>
          <a:lstStyle/>
          <a:p>
            <a:pPr algn="r">
              <a:lnSpc>
                <a:spcPct val="120000"/>
              </a:lnSpc>
            </a:pPr>
            <a:r>
              <a:rPr sz="900" b="0" i="0">
                <a:solidFill>
                  <a:srgbClr val="8A7958"/>
                </a:solidFill>
                <a:latin typeface="Geist"/>
              </a:rPr>
              <a:t>6  /  8</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6EFDE"/>
        </a:solidFill>
        <a:effectLst/>
      </p:bgPr>
    </p:bg>
    <p:spTree>
      <p:nvGrpSpPr>
        <p:cNvPr id="1" name=""/>
        <p:cNvGrpSpPr/>
        <p:nvPr/>
      </p:nvGrpSpPr>
      <p:grpSpPr/>
      <p:sp>
        <p:nvSpPr>
          <p:cNvPr id="2" name="TextBox 1"/>
          <p:cNvSpPr txBox="1"/>
          <p:nvPr/>
        </p:nvSpPr>
        <p:spPr>
          <a:xfrm>
            <a:off x="640080" y="411480"/>
            <a:ext cx="10972800" cy="822960"/>
          </a:xfrm>
          <a:prstGeom prst="rect">
            <a:avLst/>
          </a:prstGeom>
          <a:noFill/>
        </p:spPr>
        <p:txBody>
          <a:bodyPr wrap="square" lIns="0" rIns="0" tIns="0" bIns="0" anchor="t">
            <a:spAutoFit/>
          </a:bodyPr>
          <a:lstStyle/>
          <a:p>
            <a:pPr algn="l">
              <a:lnSpc>
                <a:spcPct val="120000"/>
              </a:lnSpc>
            </a:pPr>
            <a:r>
              <a:rPr sz="3400" b="0" i="1">
                <a:solidFill>
                  <a:srgbClr val="1F1408"/>
                </a:solidFill>
                <a:latin typeface="Instrument Serif"/>
              </a:rPr>
              <a:t>AI usage</a:t>
            </a:r>
          </a:p>
        </p:txBody>
      </p:sp>
      <p:sp>
        <p:nvSpPr>
          <p:cNvPr id="3" name="Rectangle 2"/>
          <p:cNvSpPr/>
          <p:nvPr/>
        </p:nvSpPr>
        <p:spPr>
          <a:xfrm>
            <a:off x="640080" y="1170432"/>
            <a:ext cx="548640" cy="54864"/>
          </a:xfrm>
          <a:prstGeom prst="rect">
            <a:avLst/>
          </a:prstGeom>
          <a:solidFill>
            <a:srgbClr val="E369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40080" y="1828800"/>
            <a:ext cx="3474720" cy="4206240"/>
          </a:xfrm>
          <a:prstGeom prst="roundRect">
            <a:avLst>
              <a:gd name="adj" fmla="val 8000"/>
            </a:avLst>
          </a:prstGeom>
          <a:solidFill>
            <a:srgbClr val="FCF8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40080" y="1828800"/>
            <a:ext cx="3474720" cy="109728"/>
          </a:xfrm>
          <a:prstGeom prst="rect">
            <a:avLst/>
          </a:prstGeom>
          <a:solidFill>
            <a:srgbClr val="6FB8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2103120"/>
            <a:ext cx="2834640" cy="457200"/>
          </a:xfrm>
          <a:prstGeom prst="rect">
            <a:avLst/>
          </a:prstGeom>
          <a:noFill/>
        </p:spPr>
        <p:txBody>
          <a:bodyPr wrap="square" lIns="0" rIns="0" tIns="0" bIns="0" anchor="t">
            <a:spAutoFit/>
          </a:bodyPr>
          <a:lstStyle/>
          <a:p>
            <a:pPr algn="l">
              <a:lnSpc>
                <a:spcPct val="120000"/>
              </a:lnSpc>
            </a:pPr>
            <a:r>
              <a:rPr sz="1800" b="1" i="0">
                <a:solidFill>
                  <a:srgbClr val="1F1408"/>
                </a:solidFill>
                <a:latin typeface="Geist"/>
              </a:rPr>
              <a:t>Pros</a:t>
            </a:r>
          </a:p>
        </p:txBody>
      </p:sp>
      <p:sp>
        <p:nvSpPr>
          <p:cNvPr id="7" name="TextBox 6"/>
          <p:cNvSpPr txBox="1"/>
          <p:nvPr/>
        </p:nvSpPr>
        <p:spPr>
          <a:xfrm>
            <a:off x="960120" y="2697480"/>
            <a:ext cx="2834640" cy="3200400"/>
          </a:xfrm>
          <a:prstGeom prst="rect">
            <a:avLst/>
          </a:prstGeom>
          <a:noFill/>
        </p:spPr>
        <p:txBody>
          <a:bodyPr wrap="square" lIns="0" rIns="0" tIns="0" bIns="0">
            <a:spAutoFit/>
          </a:bodyPr>
          <a:lstStyle/>
          <a:p>
            <a:pPr>
              <a:lnSpc>
                <a:spcPct val="140000"/>
              </a:lnSpc>
              <a:spcAft>
                <a:spcPts val="800"/>
              </a:spcAft>
            </a:pPr>
            <a:r>
              <a:rPr sz="900">
                <a:solidFill>
                  <a:srgbClr val="6FB89C"/>
                </a:solidFill>
                <a:latin typeface="Geist"/>
              </a:rPr>
              <a:t>●  </a:t>
            </a:r>
            <a:r>
              <a:rPr sz="1200">
                <a:solidFill>
                  <a:srgbClr val="1F1408"/>
                </a:solidFill>
                <a:latin typeface="Geist"/>
              </a:rPr>
              <a:t>Faster scaffolding (AGENTS.md, tokens, ADR drafts)</a:t>
            </a:r>
          </a:p>
          <a:p>
            <a:pPr>
              <a:lnSpc>
                <a:spcPct val="140000"/>
              </a:lnSpc>
              <a:spcAft>
                <a:spcPts val="800"/>
              </a:spcAft>
            </a:pPr>
            <a:r>
              <a:rPr sz="900">
                <a:solidFill>
                  <a:srgbClr val="6FB89C"/>
                </a:solidFill>
                <a:latin typeface="Geist"/>
              </a:rPr>
              <a:t>●  </a:t>
            </a:r>
            <a:r>
              <a:rPr sz="1200">
                <a:solidFill>
                  <a:srgbClr val="1F1408"/>
                </a:solidFill>
                <a:latin typeface="Geist"/>
              </a:rPr>
              <a:t>Cleaner JSDoc coverage across the codebase</a:t>
            </a:r>
          </a:p>
          <a:p>
            <a:pPr>
              <a:lnSpc>
                <a:spcPct val="140000"/>
              </a:lnSpc>
              <a:spcAft>
                <a:spcPts val="800"/>
              </a:spcAft>
            </a:pPr>
            <a:r>
              <a:rPr sz="900">
                <a:solidFill>
                  <a:srgbClr val="6FB89C"/>
                </a:solidFill>
                <a:latin typeface="Geist"/>
              </a:rPr>
              <a:t>●  </a:t>
            </a:r>
            <a:r>
              <a:rPr sz="1200">
                <a:solidFill>
                  <a:srgbClr val="1F1408"/>
                </a:solidFill>
                <a:latin typeface="Geist"/>
              </a:rPr>
              <a:t>Meeting transcripts to structured notes</a:t>
            </a:r>
          </a:p>
          <a:p>
            <a:pPr>
              <a:lnSpc>
                <a:spcPct val="140000"/>
              </a:lnSpc>
              <a:spcAft>
                <a:spcPts val="800"/>
              </a:spcAft>
            </a:pPr>
            <a:r>
              <a:rPr sz="900">
                <a:solidFill>
                  <a:srgbClr val="6FB89C"/>
                </a:solidFill>
                <a:latin typeface="Geist"/>
              </a:rPr>
              <a:t>●  </a:t>
            </a:r>
            <a:r>
              <a:rPr sz="1200">
                <a:solidFill>
                  <a:srgbClr val="1F1408"/>
                </a:solidFill>
                <a:latin typeface="Geist"/>
              </a:rPr>
              <a:t>Agents follow our written conventions</a:t>
            </a:r>
          </a:p>
        </p:txBody>
      </p:sp>
      <p:sp>
        <p:nvSpPr>
          <p:cNvPr id="8" name="Rounded Rectangle 7"/>
          <p:cNvSpPr/>
          <p:nvPr/>
        </p:nvSpPr>
        <p:spPr>
          <a:xfrm>
            <a:off x="4389120" y="1828800"/>
            <a:ext cx="3474720" cy="4206240"/>
          </a:xfrm>
          <a:prstGeom prst="roundRect">
            <a:avLst>
              <a:gd name="adj" fmla="val 8000"/>
            </a:avLst>
          </a:prstGeom>
          <a:solidFill>
            <a:srgbClr val="FCF8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389120" y="1828800"/>
            <a:ext cx="3474720" cy="109728"/>
          </a:xfrm>
          <a:prstGeom prst="rect">
            <a:avLst/>
          </a:prstGeom>
          <a:solidFill>
            <a:srgbClr val="D973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09160" y="2103120"/>
            <a:ext cx="2834640" cy="457200"/>
          </a:xfrm>
          <a:prstGeom prst="rect">
            <a:avLst/>
          </a:prstGeom>
          <a:noFill/>
        </p:spPr>
        <p:txBody>
          <a:bodyPr wrap="square" lIns="0" rIns="0" tIns="0" bIns="0" anchor="t">
            <a:spAutoFit/>
          </a:bodyPr>
          <a:lstStyle/>
          <a:p>
            <a:pPr algn="l">
              <a:lnSpc>
                <a:spcPct val="120000"/>
              </a:lnSpc>
            </a:pPr>
            <a:r>
              <a:rPr sz="1800" b="1" i="0">
                <a:solidFill>
                  <a:srgbClr val="1F1408"/>
                </a:solidFill>
                <a:latin typeface="Geist"/>
              </a:rPr>
              <a:t>Cons</a:t>
            </a:r>
          </a:p>
        </p:txBody>
      </p:sp>
      <p:sp>
        <p:nvSpPr>
          <p:cNvPr id="11" name="TextBox 10"/>
          <p:cNvSpPr txBox="1"/>
          <p:nvPr/>
        </p:nvSpPr>
        <p:spPr>
          <a:xfrm>
            <a:off x="4709160" y="2697480"/>
            <a:ext cx="2834640" cy="3200400"/>
          </a:xfrm>
          <a:prstGeom prst="rect">
            <a:avLst/>
          </a:prstGeom>
          <a:noFill/>
        </p:spPr>
        <p:txBody>
          <a:bodyPr wrap="square" lIns="0" rIns="0" tIns="0" bIns="0">
            <a:spAutoFit/>
          </a:bodyPr>
          <a:lstStyle/>
          <a:p>
            <a:pPr>
              <a:lnSpc>
                <a:spcPct val="140000"/>
              </a:lnSpc>
              <a:spcAft>
                <a:spcPts val="800"/>
              </a:spcAft>
            </a:pPr>
            <a:r>
              <a:rPr sz="900">
                <a:solidFill>
                  <a:srgbClr val="D97384"/>
                </a:solidFill>
                <a:latin typeface="Geist"/>
              </a:rPr>
              <a:t>●  </a:t>
            </a:r>
            <a:r>
              <a:rPr sz="1200">
                <a:solidFill>
                  <a:srgbClr val="1F1408"/>
                </a:solidFill>
                <a:latin typeface="Geist"/>
              </a:rPr>
              <a:t>Will invent abstractions if not constrained</a:t>
            </a:r>
          </a:p>
          <a:p>
            <a:pPr>
              <a:lnSpc>
                <a:spcPct val="140000"/>
              </a:lnSpc>
              <a:spcAft>
                <a:spcPts val="800"/>
              </a:spcAft>
            </a:pPr>
            <a:r>
              <a:rPr sz="900">
                <a:solidFill>
                  <a:srgbClr val="D97384"/>
                </a:solidFill>
                <a:latin typeface="Geist"/>
              </a:rPr>
              <a:t>●  </a:t>
            </a:r>
            <a:r>
              <a:rPr sz="1200">
                <a:solidFill>
                  <a:srgbClr val="1F1408"/>
                </a:solidFill>
                <a:latin typeface="Geist"/>
              </a:rPr>
              <a:t>Output needs human review before commit</a:t>
            </a:r>
          </a:p>
          <a:p>
            <a:pPr>
              <a:lnSpc>
                <a:spcPct val="140000"/>
              </a:lnSpc>
              <a:spcAft>
                <a:spcPts val="800"/>
              </a:spcAft>
            </a:pPr>
            <a:r>
              <a:rPr sz="900">
                <a:solidFill>
                  <a:srgbClr val="D97384"/>
                </a:solidFill>
                <a:latin typeface="Geist"/>
              </a:rPr>
              <a:t>●  </a:t>
            </a:r>
            <a:r>
              <a:rPr sz="1200">
                <a:solidFill>
                  <a:srgbClr val="1F1408"/>
                </a:solidFill>
                <a:latin typeface="Geist"/>
              </a:rPr>
              <a:t>Easy to over-document and create noise</a:t>
            </a:r>
          </a:p>
        </p:txBody>
      </p:sp>
      <p:sp>
        <p:nvSpPr>
          <p:cNvPr id="12" name="Rounded Rectangle 11"/>
          <p:cNvSpPr/>
          <p:nvPr/>
        </p:nvSpPr>
        <p:spPr>
          <a:xfrm>
            <a:off x="8138160" y="1828800"/>
            <a:ext cx="3474720" cy="4206240"/>
          </a:xfrm>
          <a:prstGeom prst="roundRect">
            <a:avLst>
              <a:gd name="adj" fmla="val 8000"/>
            </a:avLst>
          </a:prstGeom>
          <a:solidFill>
            <a:srgbClr val="FCF8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138160" y="1828800"/>
            <a:ext cx="3474720" cy="109728"/>
          </a:xfrm>
          <a:prstGeom prst="rect">
            <a:avLst/>
          </a:prstGeom>
          <a:solidFill>
            <a:srgbClr val="E369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458200" y="2103120"/>
            <a:ext cx="2834640" cy="457200"/>
          </a:xfrm>
          <a:prstGeom prst="rect">
            <a:avLst/>
          </a:prstGeom>
          <a:noFill/>
        </p:spPr>
        <p:txBody>
          <a:bodyPr wrap="square" lIns="0" rIns="0" tIns="0" bIns="0" anchor="t">
            <a:spAutoFit/>
          </a:bodyPr>
          <a:lstStyle/>
          <a:p>
            <a:pPr algn="l">
              <a:lnSpc>
                <a:spcPct val="120000"/>
              </a:lnSpc>
            </a:pPr>
            <a:r>
              <a:rPr sz="1800" b="1" i="0">
                <a:solidFill>
                  <a:srgbClr val="1F1408"/>
                </a:solidFill>
                <a:latin typeface="Geist"/>
              </a:rPr>
              <a:t>How we mitigate</a:t>
            </a:r>
          </a:p>
        </p:txBody>
      </p:sp>
      <p:sp>
        <p:nvSpPr>
          <p:cNvPr id="15" name="TextBox 14"/>
          <p:cNvSpPr txBox="1"/>
          <p:nvPr/>
        </p:nvSpPr>
        <p:spPr>
          <a:xfrm>
            <a:off x="8458200" y="2697480"/>
            <a:ext cx="2834640" cy="3200400"/>
          </a:xfrm>
          <a:prstGeom prst="rect">
            <a:avLst/>
          </a:prstGeom>
          <a:noFill/>
        </p:spPr>
        <p:txBody>
          <a:bodyPr wrap="square" lIns="0" rIns="0" tIns="0" bIns="0">
            <a:spAutoFit/>
          </a:bodyPr>
          <a:lstStyle/>
          <a:p>
            <a:pPr>
              <a:lnSpc>
                <a:spcPct val="140000"/>
              </a:lnSpc>
              <a:spcAft>
                <a:spcPts val="800"/>
              </a:spcAft>
            </a:pPr>
            <a:r>
              <a:rPr sz="900">
                <a:solidFill>
                  <a:srgbClr val="E3691A"/>
                </a:solidFill>
                <a:latin typeface="Geist"/>
              </a:rPr>
              <a:t>●  </a:t>
            </a:r>
            <a:r>
              <a:rPr sz="1200">
                <a:solidFill>
                  <a:srgbClr val="1F1408"/>
                </a:solidFill>
                <a:latin typeface="Geist"/>
              </a:rPr>
              <a:t>AGENTS.md acts as a contract for AI agents</a:t>
            </a:r>
          </a:p>
          <a:p>
            <a:pPr>
              <a:lnSpc>
                <a:spcPct val="140000"/>
              </a:lnSpc>
              <a:spcAft>
                <a:spcPts val="800"/>
              </a:spcAft>
            </a:pPr>
            <a:r>
              <a:rPr sz="900">
                <a:solidFill>
                  <a:srgbClr val="E3691A"/>
                </a:solidFill>
                <a:latin typeface="Geist"/>
              </a:rPr>
              <a:t>●  </a:t>
            </a:r>
            <a:r>
              <a:rPr sz="1200">
                <a:solidFill>
                  <a:srgbClr val="1F1408"/>
                </a:solidFill>
                <a:latin typeface="Geist"/>
              </a:rPr>
              <a:t>JSDoc lint enforces consistency</a:t>
            </a:r>
          </a:p>
          <a:p>
            <a:pPr>
              <a:lnSpc>
                <a:spcPct val="140000"/>
              </a:lnSpc>
              <a:spcAft>
                <a:spcPts val="800"/>
              </a:spcAft>
            </a:pPr>
            <a:r>
              <a:rPr sz="900">
                <a:solidFill>
                  <a:srgbClr val="E3691A"/>
                </a:solidFill>
                <a:latin typeface="Geist"/>
              </a:rPr>
              <a:t>●  </a:t>
            </a:r>
            <a:r>
              <a:rPr sz="1200">
                <a:solidFill>
                  <a:srgbClr val="1F1408"/>
                </a:solidFill>
                <a:latin typeface="Geist"/>
              </a:rPr>
              <a:t>Human author owns and reviews every PR</a:t>
            </a:r>
          </a:p>
        </p:txBody>
      </p:sp>
      <p:sp>
        <p:nvSpPr>
          <p:cNvPr id="16" name="TextBox 15"/>
          <p:cNvSpPr txBox="1"/>
          <p:nvPr/>
        </p:nvSpPr>
        <p:spPr>
          <a:xfrm>
            <a:off x="640080" y="6446520"/>
            <a:ext cx="9144000" cy="320040"/>
          </a:xfrm>
          <a:prstGeom prst="rect">
            <a:avLst/>
          </a:prstGeom>
          <a:noFill/>
        </p:spPr>
        <p:txBody>
          <a:bodyPr wrap="square" lIns="0" rIns="0" tIns="0" bIns="0" anchor="t">
            <a:spAutoFit/>
          </a:bodyPr>
          <a:lstStyle/>
          <a:p>
            <a:pPr algn="l">
              <a:lnSpc>
                <a:spcPct val="120000"/>
              </a:lnSpc>
            </a:pPr>
            <a:r>
              <a:rPr sz="900" b="0" i="0">
                <a:solidFill>
                  <a:srgbClr val="8A7958"/>
                </a:solidFill>
                <a:latin typeface="Geist"/>
              </a:rPr>
              <a:t>MemeBro   ·   CSE 110 Group 16   ·   Sprint Status Video 1</a:t>
            </a:r>
          </a:p>
        </p:txBody>
      </p:sp>
      <p:sp>
        <p:nvSpPr>
          <p:cNvPr id="17" name="TextBox 16"/>
          <p:cNvSpPr txBox="1"/>
          <p:nvPr/>
        </p:nvSpPr>
        <p:spPr>
          <a:xfrm>
            <a:off x="10515600" y="6446520"/>
            <a:ext cx="1097280" cy="320040"/>
          </a:xfrm>
          <a:prstGeom prst="rect">
            <a:avLst/>
          </a:prstGeom>
          <a:noFill/>
        </p:spPr>
        <p:txBody>
          <a:bodyPr wrap="square" lIns="0" rIns="0" tIns="0" bIns="0" anchor="t">
            <a:spAutoFit/>
          </a:bodyPr>
          <a:lstStyle/>
          <a:p>
            <a:pPr algn="r">
              <a:lnSpc>
                <a:spcPct val="120000"/>
              </a:lnSpc>
            </a:pPr>
            <a:r>
              <a:rPr sz="900" b="0" i="0">
                <a:solidFill>
                  <a:srgbClr val="8A7958"/>
                </a:solidFill>
                <a:latin typeface="Geist"/>
              </a:rPr>
              <a:t>7  /  8</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6EFDE"/>
        </a:solidFill>
        <a:effectLst/>
      </p:bgPr>
    </p:bg>
    <p:spTree>
      <p:nvGrpSpPr>
        <p:cNvPr id="1" name=""/>
        <p:cNvGrpSpPr/>
        <p:nvPr/>
      </p:nvGrpSpPr>
      <p:grpSpPr/>
      <p:sp>
        <p:nvSpPr>
          <p:cNvPr id="2" name="TextBox 1"/>
          <p:cNvSpPr txBox="1"/>
          <p:nvPr/>
        </p:nvSpPr>
        <p:spPr>
          <a:xfrm>
            <a:off x="640080" y="411480"/>
            <a:ext cx="10972800" cy="822960"/>
          </a:xfrm>
          <a:prstGeom prst="rect">
            <a:avLst/>
          </a:prstGeom>
          <a:noFill/>
        </p:spPr>
        <p:txBody>
          <a:bodyPr wrap="square" lIns="0" rIns="0" tIns="0" bIns="0" anchor="t">
            <a:spAutoFit/>
          </a:bodyPr>
          <a:lstStyle/>
          <a:p>
            <a:pPr algn="l">
              <a:lnSpc>
                <a:spcPct val="120000"/>
              </a:lnSpc>
            </a:pPr>
            <a:r>
              <a:rPr sz="3400" b="0" i="1">
                <a:solidFill>
                  <a:srgbClr val="1F1408"/>
                </a:solidFill>
                <a:latin typeface="Instrument Serif"/>
              </a:rPr>
              <a:t>What's next</a:t>
            </a:r>
          </a:p>
        </p:txBody>
      </p:sp>
      <p:sp>
        <p:nvSpPr>
          <p:cNvPr id="3" name="Rectangle 2"/>
          <p:cNvSpPr/>
          <p:nvPr/>
        </p:nvSpPr>
        <p:spPr>
          <a:xfrm>
            <a:off x="640080" y="1170432"/>
            <a:ext cx="548640" cy="54864"/>
          </a:xfrm>
          <a:prstGeom prst="rect">
            <a:avLst/>
          </a:prstGeom>
          <a:solidFill>
            <a:srgbClr val="E369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0"/>
            <a:ext cx="10972800" cy="1828800"/>
          </a:xfrm>
          <a:prstGeom prst="rect">
            <a:avLst/>
          </a:prstGeom>
          <a:noFill/>
        </p:spPr>
        <p:txBody>
          <a:bodyPr wrap="square" lIns="0" rIns="0" tIns="0" bIns="0">
            <a:spAutoFit/>
          </a:bodyPr>
          <a:lstStyle/>
          <a:p>
            <a:pPr>
              <a:lnSpc>
                <a:spcPct val="140000"/>
              </a:lnSpc>
              <a:spcAft>
                <a:spcPts val="800"/>
              </a:spcAft>
            </a:pPr>
            <a:r>
              <a:rPr sz="1100">
                <a:solidFill>
                  <a:srgbClr val="E3691A"/>
                </a:solidFill>
                <a:latin typeface="Geist"/>
              </a:rPr>
              <a:t>●  </a:t>
            </a:r>
            <a:r>
              <a:rPr sz="1400">
                <a:solidFill>
                  <a:srgbClr val="1F1408"/>
                </a:solidFill>
                <a:latin typeface="Geist"/>
              </a:rPr>
              <a:t>Sprint 3: Cloudflare Pages deploy live, AI proxy, end-to-end flow, test coverage</a:t>
            </a:r>
          </a:p>
          <a:p>
            <a:pPr>
              <a:lnSpc>
                <a:spcPct val="140000"/>
              </a:lnSpc>
              <a:spcAft>
                <a:spcPts val="800"/>
              </a:spcAft>
            </a:pPr>
            <a:r>
              <a:rPr sz="1100">
                <a:solidFill>
                  <a:srgbClr val="E3691A"/>
                </a:solidFill>
                <a:latin typeface="Geist"/>
              </a:rPr>
              <a:t>●  </a:t>
            </a:r>
            <a:r>
              <a:rPr sz="1400">
                <a:solidFill>
                  <a:srgbClr val="1F1408"/>
                </a:solidFill>
                <a:latin typeface="Geist"/>
              </a:rPr>
              <a:t>Sprint 4: polish, accessibility pass, final presentation prep</a:t>
            </a:r>
          </a:p>
          <a:p>
            <a:pPr>
              <a:lnSpc>
                <a:spcPct val="140000"/>
              </a:lnSpc>
              <a:spcAft>
                <a:spcPts val="800"/>
              </a:spcAft>
            </a:pPr>
            <a:r>
              <a:rPr sz="1100">
                <a:solidFill>
                  <a:srgbClr val="E3691A"/>
                </a:solidFill>
                <a:latin typeface="Geist"/>
              </a:rPr>
              <a:t>●  </a:t>
            </a:r>
            <a:r>
              <a:rPr sz="1400">
                <a:solidFill>
                  <a:srgbClr val="1F1408"/>
                </a:solidFill>
                <a:latin typeface="Geist"/>
              </a:rPr>
              <a:t>Working end-to-end demo by sprint 3 close</a:t>
            </a:r>
          </a:p>
          <a:p>
            <a:pPr>
              <a:lnSpc>
                <a:spcPct val="140000"/>
              </a:lnSpc>
              <a:spcAft>
                <a:spcPts val="800"/>
              </a:spcAft>
            </a:pPr>
            <a:r>
              <a:rPr sz="1100">
                <a:solidFill>
                  <a:srgbClr val="E3691A"/>
                </a:solidFill>
                <a:latin typeface="Geist"/>
              </a:rPr>
              <a:t>●  </a:t>
            </a:r>
            <a:r>
              <a:rPr sz="1400">
                <a:solidFill>
                  <a:srgbClr val="1F1408"/>
                </a:solidFill>
                <a:latin typeface="Geist"/>
              </a:rPr>
              <a:t>Full product walkthrough at the final presentation</a:t>
            </a:r>
          </a:p>
        </p:txBody>
      </p:sp>
      <p:sp>
        <p:nvSpPr>
          <p:cNvPr id="5" name="Rectangle 4"/>
          <p:cNvSpPr/>
          <p:nvPr/>
        </p:nvSpPr>
        <p:spPr>
          <a:xfrm>
            <a:off x="914400" y="5074920"/>
            <a:ext cx="10424160" cy="36576"/>
          </a:xfrm>
          <a:prstGeom prst="rect">
            <a:avLst/>
          </a:prstGeom>
          <a:solidFill>
            <a:srgbClr val="D4B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4572000"/>
            <a:ext cx="2377440" cy="411480"/>
          </a:xfrm>
          <a:prstGeom prst="rect">
            <a:avLst/>
          </a:prstGeom>
          <a:noFill/>
        </p:spPr>
        <p:txBody>
          <a:bodyPr wrap="square" lIns="0" rIns="0" tIns="0" bIns="0" anchor="t">
            <a:spAutoFit/>
          </a:bodyPr>
          <a:lstStyle/>
          <a:p>
            <a:pPr algn="ctr">
              <a:lnSpc>
                <a:spcPct val="120000"/>
              </a:lnSpc>
            </a:pPr>
            <a:r>
              <a:rPr sz="1500" b="1" i="0">
                <a:solidFill>
                  <a:srgbClr val="1F1408"/>
                </a:solidFill>
                <a:latin typeface="Geist"/>
              </a:rPr>
              <a:t>Sprint 3</a:t>
            </a:r>
          </a:p>
        </p:txBody>
      </p:sp>
      <p:sp>
        <p:nvSpPr>
          <p:cNvPr id="7" name="Oval 6"/>
          <p:cNvSpPr/>
          <p:nvPr/>
        </p:nvSpPr>
        <p:spPr>
          <a:xfrm>
            <a:off x="1682496" y="4946904"/>
            <a:ext cx="292608" cy="292608"/>
          </a:xfrm>
          <a:prstGeom prst="ellipse">
            <a:avLst/>
          </a:prstGeom>
          <a:solidFill>
            <a:srgbClr val="E3691A"/>
          </a:solidFill>
          <a:ln w="38100">
            <a:solidFill>
              <a:srgbClr val="F6EF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5394960"/>
            <a:ext cx="2377440" cy="411480"/>
          </a:xfrm>
          <a:prstGeom prst="rect">
            <a:avLst/>
          </a:prstGeom>
          <a:noFill/>
        </p:spPr>
        <p:txBody>
          <a:bodyPr wrap="square" lIns="0" rIns="0" tIns="0" bIns="0" anchor="t">
            <a:spAutoFit/>
          </a:bodyPr>
          <a:lstStyle/>
          <a:p>
            <a:pPr algn="ctr">
              <a:lnSpc>
                <a:spcPct val="120000"/>
              </a:lnSpc>
            </a:pPr>
            <a:r>
              <a:rPr sz="1100" b="0" i="0">
                <a:solidFill>
                  <a:srgbClr val="4A3A26"/>
                </a:solidFill>
                <a:latin typeface="Geist"/>
              </a:rPr>
              <a:t>Deploy + AI proxy</a:t>
            </a:r>
          </a:p>
        </p:txBody>
      </p:sp>
      <p:sp>
        <p:nvSpPr>
          <p:cNvPr id="9" name="TextBox 8"/>
          <p:cNvSpPr txBox="1"/>
          <p:nvPr/>
        </p:nvSpPr>
        <p:spPr>
          <a:xfrm>
            <a:off x="4937760" y="4572000"/>
            <a:ext cx="2377440" cy="411480"/>
          </a:xfrm>
          <a:prstGeom prst="rect">
            <a:avLst/>
          </a:prstGeom>
          <a:noFill/>
        </p:spPr>
        <p:txBody>
          <a:bodyPr wrap="square" lIns="0" rIns="0" tIns="0" bIns="0" anchor="t">
            <a:spAutoFit/>
          </a:bodyPr>
          <a:lstStyle/>
          <a:p>
            <a:pPr algn="ctr">
              <a:lnSpc>
                <a:spcPct val="120000"/>
              </a:lnSpc>
            </a:pPr>
            <a:r>
              <a:rPr sz="1500" b="1" i="0">
                <a:solidFill>
                  <a:srgbClr val="1F1408"/>
                </a:solidFill>
                <a:latin typeface="Geist"/>
              </a:rPr>
              <a:t>Sprint 4</a:t>
            </a:r>
          </a:p>
        </p:txBody>
      </p:sp>
      <p:sp>
        <p:nvSpPr>
          <p:cNvPr id="10" name="Oval 9"/>
          <p:cNvSpPr/>
          <p:nvPr/>
        </p:nvSpPr>
        <p:spPr>
          <a:xfrm>
            <a:off x="5980176" y="4946904"/>
            <a:ext cx="292608" cy="292608"/>
          </a:xfrm>
          <a:prstGeom prst="ellipse">
            <a:avLst/>
          </a:prstGeom>
          <a:solidFill>
            <a:srgbClr val="6FB89C"/>
          </a:solidFill>
          <a:ln w="38100">
            <a:solidFill>
              <a:srgbClr val="F6EF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937760" y="5394960"/>
            <a:ext cx="2377440" cy="411480"/>
          </a:xfrm>
          <a:prstGeom prst="rect">
            <a:avLst/>
          </a:prstGeom>
          <a:noFill/>
        </p:spPr>
        <p:txBody>
          <a:bodyPr wrap="square" lIns="0" rIns="0" tIns="0" bIns="0" anchor="t">
            <a:spAutoFit/>
          </a:bodyPr>
          <a:lstStyle/>
          <a:p>
            <a:pPr algn="ctr">
              <a:lnSpc>
                <a:spcPct val="120000"/>
              </a:lnSpc>
            </a:pPr>
            <a:r>
              <a:rPr sz="1100" b="0" i="0">
                <a:solidFill>
                  <a:srgbClr val="4A3A26"/>
                </a:solidFill>
                <a:latin typeface="Geist"/>
              </a:rPr>
              <a:t>Polish + a11y</a:t>
            </a:r>
          </a:p>
        </p:txBody>
      </p:sp>
      <p:sp>
        <p:nvSpPr>
          <p:cNvPr id="12" name="TextBox 11"/>
          <p:cNvSpPr txBox="1"/>
          <p:nvPr/>
        </p:nvSpPr>
        <p:spPr>
          <a:xfrm>
            <a:off x="9235440" y="4572000"/>
            <a:ext cx="2377440" cy="411480"/>
          </a:xfrm>
          <a:prstGeom prst="rect">
            <a:avLst/>
          </a:prstGeom>
          <a:noFill/>
        </p:spPr>
        <p:txBody>
          <a:bodyPr wrap="square" lIns="0" rIns="0" tIns="0" bIns="0" anchor="t">
            <a:spAutoFit/>
          </a:bodyPr>
          <a:lstStyle/>
          <a:p>
            <a:pPr algn="ctr">
              <a:lnSpc>
                <a:spcPct val="120000"/>
              </a:lnSpc>
            </a:pPr>
            <a:r>
              <a:rPr sz="1500" b="1" i="0">
                <a:solidFill>
                  <a:srgbClr val="1F1408"/>
                </a:solidFill>
                <a:latin typeface="Geist"/>
              </a:rPr>
              <a:t>Final</a:t>
            </a:r>
          </a:p>
        </p:txBody>
      </p:sp>
      <p:sp>
        <p:nvSpPr>
          <p:cNvPr id="13" name="Oval 12"/>
          <p:cNvSpPr/>
          <p:nvPr/>
        </p:nvSpPr>
        <p:spPr>
          <a:xfrm>
            <a:off x="10277856" y="4946904"/>
            <a:ext cx="292608" cy="292608"/>
          </a:xfrm>
          <a:prstGeom prst="ellipse">
            <a:avLst/>
          </a:prstGeom>
          <a:solidFill>
            <a:srgbClr val="6A8FB8"/>
          </a:solidFill>
          <a:ln w="38100">
            <a:solidFill>
              <a:srgbClr val="F6EF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235440" y="5394960"/>
            <a:ext cx="2377440" cy="411480"/>
          </a:xfrm>
          <a:prstGeom prst="rect">
            <a:avLst/>
          </a:prstGeom>
          <a:noFill/>
        </p:spPr>
        <p:txBody>
          <a:bodyPr wrap="square" lIns="0" rIns="0" tIns="0" bIns="0" anchor="t">
            <a:spAutoFit/>
          </a:bodyPr>
          <a:lstStyle/>
          <a:p>
            <a:pPr algn="ctr">
              <a:lnSpc>
                <a:spcPct val="120000"/>
              </a:lnSpc>
            </a:pPr>
            <a:r>
              <a:rPr sz="1100" b="0" i="0">
                <a:solidFill>
                  <a:srgbClr val="4A3A26"/>
                </a:solidFill>
                <a:latin typeface="Geist"/>
              </a:rPr>
              <a:t>Product walkthrough</a:t>
            </a:r>
          </a:p>
        </p:txBody>
      </p:sp>
      <p:sp>
        <p:nvSpPr>
          <p:cNvPr id="15" name="TextBox 14"/>
          <p:cNvSpPr txBox="1"/>
          <p:nvPr/>
        </p:nvSpPr>
        <p:spPr>
          <a:xfrm>
            <a:off x="0" y="5989320"/>
            <a:ext cx="12191695" cy="411480"/>
          </a:xfrm>
          <a:prstGeom prst="rect">
            <a:avLst/>
          </a:prstGeom>
          <a:noFill/>
        </p:spPr>
        <p:txBody>
          <a:bodyPr wrap="square" lIns="0" rIns="0" tIns="0" bIns="0" anchor="t">
            <a:spAutoFit/>
          </a:bodyPr>
          <a:lstStyle/>
          <a:p>
            <a:pPr algn="ctr">
              <a:lnSpc>
                <a:spcPct val="120000"/>
              </a:lnSpc>
            </a:pPr>
            <a:r>
              <a:rPr sz="2000" b="0" i="1">
                <a:solidFill>
                  <a:srgbClr val="E3691A"/>
                </a:solidFill>
                <a:latin typeface="Instrument Serif"/>
              </a:rPr>
              <a:t>Thanks, Group 16.</a:t>
            </a:r>
          </a:p>
        </p:txBody>
      </p:sp>
      <p:sp>
        <p:nvSpPr>
          <p:cNvPr id="16" name="TextBox 15"/>
          <p:cNvSpPr txBox="1"/>
          <p:nvPr/>
        </p:nvSpPr>
        <p:spPr>
          <a:xfrm>
            <a:off x="640080" y="6446520"/>
            <a:ext cx="9144000" cy="320040"/>
          </a:xfrm>
          <a:prstGeom prst="rect">
            <a:avLst/>
          </a:prstGeom>
          <a:noFill/>
        </p:spPr>
        <p:txBody>
          <a:bodyPr wrap="square" lIns="0" rIns="0" tIns="0" bIns="0" anchor="t">
            <a:spAutoFit/>
          </a:bodyPr>
          <a:lstStyle/>
          <a:p>
            <a:pPr algn="l">
              <a:lnSpc>
                <a:spcPct val="120000"/>
              </a:lnSpc>
            </a:pPr>
            <a:r>
              <a:rPr sz="900" b="0" i="0">
                <a:solidFill>
                  <a:srgbClr val="8A7958"/>
                </a:solidFill>
                <a:latin typeface="Geist"/>
              </a:rPr>
              <a:t>MemeBro   ·   CSE 110 Group 16   ·   Sprint Status Video 1</a:t>
            </a:r>
          </a:p>
        </p:txBody>
      </p:sp>
      <p:sp>
        <p:nvSpPr>
          <p:cNvPr id="17" name="TextBox 16"/>
          <p:cNvSpPr txBox="1"/>
          <p:nvPr/>
        </p:nvSpPr>
        <p:spPr>
          <a:xfrm>
            <a:off x="10515600" y="6446520"/>
            <a:ext cx="1097280" cy="320040"/>
          </a:xfrm>
          <a:prstGeom prst="rect">
            <a:avLst/>
          </a:prstGeom>
          <a:noFill/>
        </p:spPr>
        <p:txBody>
          <a:bodyPr wrap="square" lIns="0" rIns="0" tIns="0" bIns="0" anchor="t">
            <a:spAutoFit/>
          </a:bodyPr>
          <a:lstStyle/>
          <a:p>
            <a:pPr algn="r">
              <a:lnSpc>
                <a:spcPct val="120000"/>
              </a:lnSpc>
            </a:pPr>
            <a:r>
              <a:rPr sz="900" b="0" i="0">
                <a:solidFill>
                  <a:srgbClr val="8A7958"/>
                </a:solidFill>
                <a:latin typeface="Geist"/>
              </a:rPr>
              <a:t>8  /  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Widescreen</PresentationFormat>
  <Paragraphs>0</Paragraphs>
  <Slides>8</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